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920240"/>
            <a:ext cx="8412480" cy="1097280"/>
          </a:xfrm>
          <a:prstGeom prst="rect">
            <a:avLst/>
          </a:prstGeom>
          <a:noFill/>
          <a:ln/>
        </p:spPr>
        <p:txBody>
          <a:bodyPr wrap="square" lIns="0" tIns="0" rIns="0" bIns="0" rtlCol="0" anchor="ctr"/>
          <a:lstStyle/>
          <a:p>
            <a:pPr algn="l" indent="0" marL="0">
              <a:buNone/>
            </a:pPr>
            <a:r>
              <a:rPr lang="en-US" sz="5400" dirty="0">
                <a:solidFill>
                  <a:srgbClr val="3D4248"/>
                </a:solidFill>
                <a:latin typeface="Cambria" pitchFamily="34" charset="0"/>
                <a:ea typeface="Cambria" pitchFamily="34" charset="-122"/>
                <a:cs typeface="Cambria" pitchFamily="34" charset="-120"/>
              </a:rPr>
              <a:t>Redes cívicas gamificadas</a:t>
            </a:r>
            <a:endParaRPr lang="en-US" sz="5400" dirty="0"/>
          </a:p>
        </p:txBody>
      </p:sp>
      <p:sp>
        <p:nvSpPr>
          <p:cNvPr id="3" name="Text 1"/>
          <p:cNvSpPr/>
          <p:nvPr/>
        </p:nvSpPr>
        <p:spPr>
          <a:xfrm>
            <a:off x="365760" y="3017520"/>
            <a:ext cx="8412480" cy="731520"/>
          </a:xfrm>
          <a:prstGeom prst="rect">
            <a:avLst/>
          </a:prstGeom>
          <a:noFill/>
          <a:ln/>
        </p:spPr>
        <p:txBody>
          <a:bodyPr wrap="square" lIns="0" tIns="0" rIns="0" bIns="0" rtlCol="0" anchor="ctr"/>
          <a:lstStyle/>
          <a:p>
            <a:pPr algn="l" indent="0" marL="0">
              <a:buNone/>
            </a:pPr>
            <a:r>
              <a:rPr lang="en-US" sz="2200" dirty="0">
                <a:solidFill>
                  <a:srgbClr val="5A6068"/>
                </a:solidFill>
                <a:latin typeface="Calibri" pitchFamily="34" charset="0"/>
                <a:ea typeface="Calibri" pitchFamily="34" charset="-122"/>
                <a:cs typeface="Calibri" pitchFamily="34" charset="-120"/>
              </a:rPr>
              <a:t>De la realización de dos tesinas de máster a la implementación de una esfera digital pública</a:t>
            </a:r>
            <a:endParaRPr lang="en-US" sz="2200" dirty="0"/>
          </a:p>
        </p:txBody>
      </p:sp>
      <p:sp>
        <p:nvSpPr>
          <p:cNvPr id="4" name="Text 2"/>
          <p:cNvSpPr/>
          <p:nvPr/>
        </p:nvSpPr>
        <p:spPr>
          <a:xfrm>
            <a:off x="365760" y="292608"/>
            <a:ext cx="8229600" cy="320040"/>
          </a:xfrm>
          <a:prstGeom prst="rect">
            <a:avLst/>
          </a:prstGeom>
          <a:noFill/>
          <a:ln/>
        </p:spPr>
        <p:txBody>
          <a:bodyPr wrap="square" lIns="0" tIns="0" rIns="0" bIns="0" rtlCol="0" anchor="ctr"/>
          <a:lstStyle/>
          <a:p>
            <a:pPr indent="0" marL="0">
              <a:buNone/>
            </a:pPr>
            <a:r>
              <a:rPr lang="en-US" sz="1100" spc="400" kern="0" dirty="0">
                <a:solidFill>
                  <a:srgbClr val="7B7E84"/>
                </a:solidFill>
                <a:latin typeface="Calibri" pitchFamily="34" charset="0"/>
                <a:ea typeface="Calibri" pitchFamily="34" charset="-122"/>
                <a:cs typeface="Calibri" pitchFamily="34" charset="-120"/>
              </a:rPr>
              <a:t>Propuesta · Centro Cívico Suárez Naranjo · Mayo 2026</a:t>
            </a:r>
            <a:endParaRPr lang="en-US" sz="1100" dirty="0"/>
          </a:p>
        </p:txBody>
      </p:sp>
      <p:sp>
        <p:nvSpPr>
          <p:cNvPr id="5" name="Text 3"/>
          <p:cNvSpPr/>
          <p:nvPr/>
        </p:nvSpPr>
        <p:spPr>
          <a:xfrm>
            <a:off x="365760" y="4572000"/>
            <a:ext cx="5486400" cy="274320"/>
          </a:xfrm>
          <a:prstGeom prst="rect">
            <a:avLst/>
          </a:prstGeom>
          <a:noFill/>
          <a:ln/>
        </p:spPr>
        <p:txBody>
          <a:bodyPr wrap="square" lIns="0" tIns="0" rIns="0" bIns="0" rtlCol="0" anchor="ctr"/>
          <a:lstStyle/>
          <a:p>
            <a:pPr indent="0" marL="0">
              <a:buNone/>
            </a:pPr>
            <a:r>
              <a:rPr lang="en-US" sz="1200" i="1" dirty="0">
                <a:solidFill>
                  <a:srgbClr val="5A6068"/>
                </a:solidFill>
                <a:latin typeface="Calibri" pitchFamily="34" charset="0"/>
                <a:ea typeface="Calibri" pitchFamily="34" charset="-122"/>
                <a:cs typeface="Calibri" pitchFamily="34" charset="-120"/>
              </a:rPr>
              <a:t>Francisco Rebollo Bautista</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365760" y="274320"/>
            <a:ext cx="36576" cy="292608"/>
          </a:xfrm>
          <a:prstGeom prst="rect">
            <a:avLst/>
          </a:prstGeom>
          <a:solidFill>
            <a:srgbClr val="B85042"/>
          </a:solidFill>
          <a:ln w="12700">
            <a:solidFill>
              <a:srgbClr val="B85042"/>
            </a:solidFill>
            <a:prstDash val="solid"/>
          </a:ln>
        </p:spPr>
      </p:sp>
      <p:sp>
        <p:nvSpPr>
          <p:cNvPr id="3" name="Text 1"/>
          <p:cNvSpPr/>
          <p:nvPr/>
        </p:nvSpPr>
        <p:spPr>
          <a:xfrm>
            <a:off x="475488" y="237744"/>
            <a:ext cx="548640" cy="365760"/>
          </a:xfrm>
          <a:prstGeom prst="rect">
            <a:avLst/>
          </a:prstGeom>
          <a:noFill/>
          <a:ln/>
        </p:spPr>
        <p:txBody>
          <a:bodyPr wrap="square" lIns="0" tIns="0" rIns="0" bIns="0" rtlCol="0" anchor="ctr"/>
          <a:lstStyle/>
          <a:p>
            <a:pPr algn="l" indent="0" marL="0">
              <a:buNone/>
            </a:pPr>
            <a:r>
              <a:rPr lang="en-US" sz="1600" i="1" dirty="0">
                <a:solidFill>
                  <a:srgbClr val="B85042"/>
                </a:solidFill>
                <a:latin typeface="Cambria" pitchFamily="34" charset="0"/>
                <a:ea typeface="Cambria" pitchFamily="34" charset="-122"/>
                <a:cs typeface="Cambria" pitchFamily="34" charset="-120"/>
              </a:rPr>
              <a:t>I</a:t>
            </a:r>
            <a:endParaRPr lang="en-US" sz="1600" dirty="0"/>
          </a:p>
        </p:txBody>
      </p:sp>
      <p:sp>
        <p:nvSpPr>
          <p:cNvPr id="4" name="Text 2"/>
          <p:cNvSpPr/>
          <p:nvPr/>
        </p:nvSpPr>
        <p:spPr>
          <a:xfrm>
            <a:off x="365760" y="713232"/>
            <a:ext cx="8412480" cy="548640"/>
          </a:xfrm>
          <a:prstGeom prst="rect">
            <a:avLst/>
          </a:prstGeom>
          <a:noFill/>
          <a:ln/>
        </p:spPr>
        <p:txBody>
          <a:bodyPr wrap="square" lIns="0" tIns="0" rIns="0" bIns="0" rtlCol="0" anchor="ctr"/>
          <a:lstStyle/>
          <a:p>
            <a:pPr indent="0" marL="0">
              <a:buNone/>
            </a:pPr>
            <a:r>
              <a:rPr lang="en-US" sz="3200" dirty="0">
                <a:solidFill>
                  <a:srgbClr val="3D4248"/>
                </a:solidFill>
                <a:latin typeface="Cambria" pitchFamily="34" charset="0"/>
                <a:ea typeface="Cambria" pitchFamily="34" charset="-122"/>
                <a:cs typeface="Cambria" pitchFamily="34" charset="-120"/>
              </a:rPr>
              <a:t>2016 — 2018  ·  surge la idea</a:t>
            </a:r>
            <a:endParaRPr lang="en-US" sz="3200" dirty="0"/>
          </a:p>
        </p:txBody>
      </p:sp>
      <p:sp>
        <p:nvSpPr>
          <p:cNvPr id="5" name="Text 3"/>
          <p:cNvSpPr/>
          <p:nvPr/>
        </p:nvSpPr>
        <p:spPr>
          <a:xfrm>
            <a:off x="365760" y="1280160"/>
            <a:ext cx="8412480" cy="365760"/>
          </a:xfrm>
          <a:prstGeom prst="rect">
            <a:avLst/>
          </a:prstGeom>
          <a:noFill/>
          <a:ln/>
        </p:spPr>
        <p:txBody>
          <a:bodyPr wrap="square" lIns="0" tIns="0" rIns="0" bIns="0" rtlCol="0" anchor="ctr"/>
          <a:lstStyle/>
          <a:p>
            <a:pPr indent="0" marL="0">
              <a:buNone/>
            </a:pPr>
            <a:r>
              <a:rPr lang="en-US" sz="1500" i="1" dirty="0">
                <a:solidFill>
                  <a:srgbClr val="5A6068"/>
                </a:solidFill>
                <a:latin typeface="Calibri" pitchFamily="34" charset="0"/>
                <a:ea typeface="Calibri" pitchFamily="34" charset="-122"/>
                <a:cs typeface="Calibri" pitchFamily="34" charset="-120"/>
              </a:rPr>
              <a:t>Integración y competición por el espacio digital; las redes sociales nos roban tiempo de participación</a:t>
            </a:r>
            <a:endParaRPr lang="en-US" sz="1500" dirty="0"/>
          </a:p>
        </p:txBody>
      </p:sp>
      <p:sp>
        <p:nvSpPr>
          <p:cNvPr id="6" name="Text 4"/>
          <p:cNvSpPr/>
          <p:nvPr/>
        </p:nvSpPr>
        <p:spPr>
          <a:xfrm>
            <a:off x="548640" y="2011680"/>
            <a:ext cx="8046720" cy="2651760"/>
          </a:xfrm>
          <a:prstGeom prst="rect">
            <a:avLst/>
          </a:prstGeom>
          <a:noFill/>
          <a:ln/>
        </p:spPr>
        <p:txBody>
          <a:bodyPr wrap="square" lIns="0" tIns="0" rIns="0" bIns="0" rtlCol="0" anchor="t"/>
          <a:lstStyle/>
          <a:p>
            <a:pPr indent="0" marL="0">
              <a:spcAft>
                <a:spcPts val="600"/>
              </a:spcAft>
              <a:buNone/>
            </a:pPr>
            <a:r>
              <a:rPr lang="en-US" sz="1500" b="1" dirty="0">
                <a:solidFill>
                  <a:srgbClr val="3D4248"/>
                </a:solidFill>
                <a:latin typeface="Calibri" pitchFamily="34" charset="0"/>
                <a:ea typeface="Calibri" pitchFamily="34" charset="-122"/>
                <a:cs typeface="Calibri" pitchFamily="34" charset="-120"/>
              </a:rPr>
              <a:t>Máster en Barcelona (UPF · Johns Hopkins). </a:t>
            </a:r>
            <a:pPr indent="0" marL="0">
              <a:spcAft>
                <a:spcPts val="600"/>
              </a:spcAft>
              <a:buNone/>
            </a:pPr>
            <a:r>
              <a:rPr lang="en-US" sz="1500" dirty="0">
                <a:solidFill>
                  <a:srgbClr val="3D4248"/>
                </a:solidFill>
                <a:latin typeface="Calibri" pitchFamily="34" charset="0"/>
                <a:ea typeface="Calibri" pitchFamily="34" charset="-122"/>
                <a:cs typeface="Calibri" pitchFamily="34" charset="-120"/>
              </a:rPr>
              <a:t>Análisis de la ciudad desde David Harvey: el liberalismo y la globalización deconstruyen los tejidos vecinales.
</a:t>
            </a:r>
            <a:pPr indent="0" marL="0">
              <a:spcAft>
                <a:spcPts val="600"/>
              </a:spcAft>
              <a:buNone/>
            </a:pPr>
            <a:r>
              <a:rPr lang="en-US" sz="1500" b="1" dirty="0">
                <a:solidFill>
                  <a:srgbClr val="3D4248"/>
                </a:solidFill>
                <a:latin typeface="Calibri" pitchFamily="34" charset="0"/>
                <a:ea typeface="Calibri" pitchFamily="34" charset="-122"/>
                <a:cs typeface="Calibri" pitchFamily="34" charset="-120"/>
              </a:rPr>
              <a:t>Auge del smartphone (desde 2016). </a:t>
            </a:r>
            <a:pPr indent="0" marL="0">
              <a:spcAft>
                <a:spcPts val="600"/>
              </a:spcAft>
              <a:buNone/>
            </a:pPr>
            <a:r>
              <a:rPr lang="en-US" sz="1500" dirty="0">
                <a:solidFill>
                  <a:srgbClr val="3D4248"/>
                </a:solidFill>
                <a:latin typeface="Calibri" pitchFamily="34" charset="0"/>
                <a:ea typeface="Calibri" pitchFamily="34" charset="-122"/>
                <a:cs typeface="Calibri" pitchFamily="34" charset="-120"/>
              </a:rPr>
              <a:t>La captación de nuestro tiempo crece cada año: ¿cómo se compite con un dispositivo que se ancla al cerebro como una droga? (TFM 2018 — </a:t>
            </a:r>
            <a:pPr indent="0" marL="0">
              <a:spcAft>
                <a:spcPts val="600"/>
              </a:spcAft>
              <a:buNone/>
            </a:pPr>
            <a:r>
              <a:rPr lang="en-US" sz="1500" i="1" dirty="0">
                <a:solidFill>
                  <a:srgbClr val="3D4248"/>
                </a:solidFill>
                <a:latin typeface="Calibri" pitchFamily="34" charset="0"/>
                <a:ea typeface="Calibri" pitchFamily="34" charset="-122"/>
                <a:cs typeface="Calibri" pitchFamily="34" charset="-120"/>
              </a:rPr>
              <a:t>feedback loop</a:t>
            </a:r>
            <a:pPr indent="0" marL="0">
              <a:spcAft>
                <a:spcPts val="600"/>
              </a:spcAft>
              <a:buNone/>
            </a:pPr>
            <a:r>
              <a:rPr lang="en-US" sz="1500" dirty="0">
                <a:solidFill>
                  <a:srgbClr val="3D4248"/>
                </a:solidFill>
                <a:latin typeface="Calibri" pitchFamily="34" charset="0"/>
                <a:ea typeface="Calibri" pitchFamily="34" charset="-122"/>
                <a:cs typeface="Calibri" pitchFamily="34" charset="-120"/>
              </a:rPr>
              <a:t>)
</a:t>
            </a:r>
            <a:pPr indent="0" marL="0">
              <a:spcAft>
                <a:spcPts val="600"/>
              </a:spcAft>
              <a:buNone/>
            </a:pPr>
            <a:r>
              <a:rPr lang="en-US" sz="1500" b="1" dirty="0">
                <a:solidFill>
                  <a:srgbClr val="3D4248"/>
                </a:solidFill>
                <a:latin typeface="Calibri" pitchFamily="34" charset="0"/>
                <a:ea typeface="Calibri" pitchFamily="34" charset="-122"/>
                <a:cs typeface="Calibri" pitchFamily="34" charset="-120"/>
              </a:rPr>
              <a:t>Visita al Laboratorio Can Fabra </a:t>
            </a:r>
            <a:pPr indent="0" marL="0">
              <a:spcAft>
                <a:spcPts val="600"/>
              </a:spcAft>
              <a:buNone/>
            </a:pPr>
            <a:r>
              <a:rPr lang="en-US" sz="1500" dirty="0">
                <a:solidFill>
                  <a:srgbClr val="3D4248"/>
                </a:solidFill>
                <a:latin typeface="Calibri" pitchFamily="34" charset="0"/>
                <a:ea typeface="Calibri" pitchFamily="34" charset="-122"/>
                <a:cs typeface="Calibri" pitchFamily="34" charset="-120"/>
              </a:rPr>
              <a:t>(sede de Decidim, Ruby on Rails): plataforma robusta pero con adopción baja. Interés inicial en gamificación, sin avances posteriores.</a:t>
            </a:r>
            <a:endParaRPr lang="en-US" sz="1500" dirty="0"/>
          </a:p>
        </p:txBody>
      </p:sp>
      <p:sp>
        <p:nvSpPr>
          <p:cNvPr id="7" name="Text 5"/>
          <p:cNvSpPr/>
          <p:nvPr/>
        </p:nvSpPr>
        <p:spPr>
          <a:xfrm>
            <a:off x="365760" y="4846320"/>
            <a:ext cx="5486400" cy="228600"/>
          </a:xfrm>
          <a:prstGeom prst="rect">
            <a:avLst/>
          </a:prstGeom>
          <a:noFill/>
          <a:ln/>
        </p:spPr>
        <p:txBody>
          <a:bodyPr wrap="square" lIns="0" tIns="0" rIns="0" bIns="0" rtlCol="0" anchor="ctr"/>
          <a:lstStyle/>
          <a:p>
            <a:pPr indent="0" marL="0">
              <a:buNone/>
            </a:pPr>
            <a:r>
              <a:rPr lang="en-US" sz="900" dirty="0">
                <a:solidFill>
                  <a:srgbClr val="7B7E84"/>
                </a:solidFill>
                <a:latin typeface="Calibri" pitchFamily="34" charset="0"/>
                <a:ea typeface="Calibri" pitchFamily="34" charset="-122"/>
                <a:cs typeface="Calibri" pitchFamily="34" charset="-120"/>
              </a:rPr>
              <a:t>Redes cívicas gamificadas</a:t>
            </a:r>
            <a:pPr indent="0" marL="0">
              <a:buNone/>
            </a:pPr>
            <a:r>
              <a:rPr lang="en-US" sz="900" dirty="0">
                <a:solidFill>
                  <a:srgbClr val="7B7E84"/>
                </a:solidFill>
                <a:latin typeface="Calibri" pitchFamily="34" charset="0"/>
                <a:ea typeface="Calibri" pitchFamily="34" charset="-122"/>
                <a:cs typeface="Calibri" pitchFamily="34" charset="-120"/>
              </a:rPr>
              <a:t>   ·   </a:t>
            </a:r>
            <a:pPr indent="0" marL="0">
              <a:buNone/>
            </a:pPr>
            <a:r>
              <a:rPr lang="en-US" sz="900" dirty="0">
                <a:solidFill>
                  <a:srgbClr val="7B7E84"/>
                </a:solidFill>
                <a:latin typeface="Calibri" pitchFamily="34" charset="0"/>
                <a:ea typeface="Calibri" pitchFamily="34" charset="-122"/>
                <a:cs typeface="Calibri" pitchFamily="34" charset="-120"/>
              </a:rPr>
              <a:t>F. Rebollo Bautista</a:t>
            </a:r>
            <a:endParaRPr lang="en-US" sz="900" dirty="0"/>
          </a:p>
        </p:txBody>
      </p:sp>
      <p:sp>
        <p:nvSpPr>
          <p:cNvPr id="8" name="Text 6"/>
          <p:cNvSpPr/>
          <p:nvPr/>
        </p:nvSpPr>
        <p:spPr>
          <a:xfrm>
            <a:off x="7772400" y="4846320"/>
            <a:ext cx="1005840" cy="228600"/>
          </a:xfrm>
          <a:prstGeom prst="rect">
            <a:avLst/>
          </a:prstGeom>
          <a:noFill/>
          <a:ln/>
        </p:spPr>
        <p:txBody>
          <a:bodyPr wrap="square" lIns="0" tIns="0" rIns="0" bIns="0" rtlCol="0" anchor="ctr"/>
          <a:lstStyle/>
          <a:p>
            <a:pPr algn="r" indent="0" marL="0">
              <a:buNone/>
            </a:pPr>
            <a:r>
              <a:rPr lang="en-US" sz="900" dirty="0">
                <a:solidFill>
                  <a:srgbClr val="7B7E84"/>
                </a:solidFill>
                <a:latin typeface="Calibri" pitchFamily="34" charset="0"/>
                <a:ea typeface="Calibri" pitchFamily="34" charset="-122"/>
                <a:cs typeface="Calibri" pitchFamily="34" charset="-120"/>
              </a:rPr>
              <a:t>2 / 11</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365760" y="274320"/>
            <a:ext cx="36576" cy="292608"/>
          </a:xfrm>
          <a:prstGeom prst="rect">
            <a:avLst/>
          </a:prstGeom>
          <a:solidFill>
            <a:srgbClr val="B85042"/>
          </a:solidFill>
          <a:ln w="12700">
            <a:solidFill>
              <a:srgbClr val="B85042"/>
            </a:solidFill>
            <a:prstDash val="solid"/>
          </a:ln>
        </p:spPr>
      </p:sp>
      <p:sp>
        <p:nvSpPr>
          <p:cNvPr id="3" name="Text 1"/>
          <p:cNvSpPr/>
          <p:nvPr/>
        </p:nvSpPr>
        <p:spPr>
          <a:xfrm>
            <a:off x="475488" y="237744"/>
            <a:ext cx="548640" cy="365760"/>
          </a:xfrm>
          <a:prstGeom prst="rect">
            <a:avLst/>
          </a:prstGeom>
          <a:noFill/>
          <a:ln/>
        </p:spPr>
        <p:txBody>
          <a:bodyPr wrap="square" lIns="0" tIns="0" rIns="0" bIns="0" rtlCol="0" anchor="ctr"/>
          <a:lstStyle/>
          <a:p>
            <a:pPr algn="l" indent="0" marL="0">
              <a:buNone/>
            </a:pPr>
            <a:r>
              <a:rPr lang="en-US" sz="1600" i="1" dirty="0">
                <a:solidFill>
                  <a:srgbClr val="B85042"/>
                </a:solidFill>
                <a:latin typeface="Cambria" pitchFamily="34" charset="0"/>
                <a:ea typeface="Cambria" pitchFamily="34" charset="-122"/>
                <a:cs typeface="Cambria" pitchFamily="34" charset="-120"/>
              </a:rPr>
              <a:t>II</a:t>
            </a:r>
            <a:endParaRPr lang="en-US" sz="1600" dirty="0"/>
          </a:p>
        </p:txBody>
      </p:sp>
      <p:sp>
        <p:nvSpPr>
          <p:cNvPr id="4" name="Text 2"/>
          <p:cNvSpPr/>
          <p:nvPr/>
        </p:nvSpPr>
        <p:spPr>
          <a:xfrm>
            <a:off x="365760" y="713232"/>
            <a:ext cx="8412480" cy="548640"/>
          </a:xfrm>
          <a:prstGeom prst="rect">
            <a:avLst/>
          </a:prstGeom>
          <a:noFill/>
          <a:ln/>
        </p:spPr>
        <p:txBody>
          <a:bodyPr wrap="square" lIns="0" tIns="0" rIns="0" bIns="0" rtlCol="0" anchor="ctr"/>
          <a:lstStyle/>
          <a:p>
            <a:pPr indent="0" marL="0">
              <a:buNone/>
            </a:pPr>
            <a:r>
              <a:rPr lang="en-US" sz="2600" dirty="0">
                <a:solidFill>
                  <a:srgbClr val="3D4248"/>
                </a:solidFill>
                <a:latin typeface="Cambria" pitchFamily="34" charset="0"/>
                <a:ea typeface="Cambria" pitchFamily="34" charset="-122"/>
                <a:cs typeface="Cambria" pitchFamily="34" charset="-120"/>
              </a:rPr>
              <a:t>2019  ·  acercamiento al Servicio de Participación</a:t>
            </a:r>
            <a:endParaRPr lang="en-US" sz="2600" dirty="0"/>
          </a:p>
        </p:txBody>
      </p:sp>
      <p:sp>
        <p:nvSpPr>
          <p:cNvPr id="5" name="Text 3"/>
          <p:cNvSpPr/>
          <p:nvPr/>
        </p:nvSpPr>
        <p:spPr>
          <a:xfrm>
            <a:off x="365760" y="1280160"/>
            <a:ext cx="8412480" cy="365760"/>
          </a:xfrm>
          <a:prstGeom prst="rect">
            <a:avLst/>
          </a:prstGeom>
          <a:noFill/>
          <a:ln/>
        </p:spPr>
        <p:txBody>
          <a:bodyPr wrap="square" lIns="0" tIns="0" rIns="0" bIns="0" rtlCol="0" anchor="ctr"/>
          <a:lstStyle/>
          <a:p>
            <a:pPr indent="0" marL="0">
              <a:buNone/>
            </a:pPr>
            <a:r>
              <a:rPr lang="en-US" sz="1500" i="1" dirty="0">
                <a:solidFill>
                  <a:srgbClr val="5A6068"/>
                </a:solidFill>
                <a:latin typeface="Calibri" pitchFamily="34" charset="0"/>
                <a:ea typeface="Calibri" pitchFamily="34" charset="-122"/>
                <a:cs typeface="Calibri" pitchFamily="34" charset="-120"/>
              </a:rPr>
              <a:t>Primer contacto con el Ayuntamiento; primer proyecto piloto</a:t>
            </a:r>
            <a:endParaRPr lang="en-US" sz="1500" dirty="0"/>
          </a:p>
        </p:txBody>
      </p:sp>
      <p:sp>
        <p:nvSpPr>
          <p:cNvPr id="6" name="Text 4"/>
          <p:cNvSpPr/>
          <p:nvPr/>
        </p:nvSpPr>
        <p:spPr>
          <a:xfrm>
            <a:off x="548640" y="1920240"/>
            <a:ext cx="8046720" cy="2651760"/>
          </a:xfrm>
          <a:prstGeom prst="rect">
            <a:avLst/>
          </a:prstGeom>
          <a:noFill/>
          <a:ln/>
        </p:spPr>
        <p:txBody>
          <a:bodyPr wrap="square" lIns="0" tIns="0" rIns="0" bIns="0" rtlCol="0" anchor="t"/>
          <a:lstStyle/>
          <a:p>
            <a:pPr indent="0" marL="0">
              <a:spcAft>
                <a:spcPts val="600"/>
              </a:spcAft>
              <a:buNone/>
            </a:pPr>
            <a:r>
              <a:rPr lang="en-US" sz="1500" dirty="0">
                <a:solidFill>
                  <a:srgbClr val="3D4248"/>
                </a:solidFill>
                <a:latin typeface="Calibri" pitchFamily="34" charset="0"/>
                <a:ea typeface="Calibri" pitchFamily="34" charset="-122"/>
                <a:cs typeface="Calibri" pitchFamily="34" charset="-120"/>
              </a:rPr>
              <a:t>Tras una visita informal como la del 12 de mayo de 2026, conseguí una reunión con </a:t>
            </a:r>
            <a:pPr indent="0" marL="0">
              <a:spcAft>
                <a:spcPts val="600"/>
              </a:spcAft>
              <a:buNone/>
            </a:pPr>
            <a:r>
              <a:rPr lang="en-US" sz="1500" b="1" dirty="0">
                <a:solidFill>
                  <a:srgbClr val="3D4248"/>
                </a:solidFill>
                <a:latin typeface="Calibri" pitchFamily="34" charset="0"/>
                <a:ea typeface="Calibri" pitchFamily="34" charset="-122"/>
                <a:cs typeface="Calibri" pitchFamily="34" charset="-120"/>
              </a:rPr>
              <a:t>D. Benito y Dña. Luisa</a:t>
            </a:r>
            <a:pPr indent="0" marL="0">
              <a:spcAft>
                <a:spcPts val="600"/>
              </a:spcAft>
              <a:buNone/>
            </a:pPr>
            <a:r>
              <a:rPr lang="en-US" sz="1500" dirty="0">
                <a:solidFill>
                  <a:srgbClr val="3D4248"/>
                </a:solidFill>
                <a:latin typeface="Calibri" pitchFamily="34" charset="0"/>
                <a:ea typeface="Calibri" pitchFamily="34" charset="-122"/>
                <a:cs typeface="Calibri" pitchFamily="34" charset="-120"/>
              </a:rPr>
              <a:t> en el Centro Cívico Suárez Naranjo. La colaboración tomó forma para presentar un proyecto piloto al programa </a:t>
            </a:r>
            <a:pPr indent="0" marL="0">
              <a:spcAft>
                <a:spcPts val="600"/>
              </a:spcAft>
              <a:buNone/>
            </a:pPr>
            <a:r>
              <a:rPr lang="en-US" sz="1500" i="1" dirty="0">
                <a:solidFill>
                  <a:srgbClr val="3D4248"/>
                </a:solidFill>
                <a:latin typeface="Calibri" pitchFamily="34" charset="0"/>
                <a:ea typeface="Calibri" pitchFamily="34" charset="-122"/>
                <a:cs typeface="Calibri" pitchFamily="34" charset="-120"/>
              </a:rPr>
              <a:t>Urban Initiative Actions (UIA)</a:t>
            </a:r>
            <a:pPr indent="0" marL="0">
              <a:spcAft>
                <a:spcPts val="600"/>
              </a:spcAft>
              <a:buNone/>
            </a:pPr>
            <a:r>
              <a:rPr lang="en-US" sz="1500" dirty="0">
                <a:solidFill>
                  <a:srgbClr val="3D4248"/>
                </a:solidFill>
                <a:latin typeface="Calibri" pitchFamily="34" charset="0"/>
                <a:ea typeface="Calibri" pitchFamily="34" charset="-122"/>
                <a:cs typeface="Calibri" pitchFamily="34" charset="-120"/>
              </a:rPr>
              <a:t> de la UE.
</a:t>
            </a:r>
            <a:pPr indent="0" marL="0">
              <a:spcAft>
                <a:spcPts val="600"/>
              </a:spcAft>
              <a:buNone/>
            </a:pPr>
            <a:r>
              <a:rPr lang="en-US" sz="1500" dirty="0">
                <a:solidFill>
                  <a:srgbClr val="3D4248"/>
                </a:solidFill>
                <a:latin typeface="Calibri" pitchFamily="34" charset="0"/>
                <a:ea typeface="Calibri" pitchFamily="34" charset="-122"/>
                <a:cs typeface="Calibri" pitchFamily="34" charset="-120"/>
              </a:rPr>
              <a:t>La idea gustó, pero existía preocupación sobre la gestión de fondos europeos. (En 2021 trabajaría justamente en implementación de fondos europeos: era necesario un conocimiento más amplio para hacerlo bien.)
</a:t>
            </a:r>
            <a:pPr indent="0" marL="0">
              <a:spcAft>
                <a:spcPts val="600"/>
              </a:spcAft>
              <a:buNone/>
            </a:pPr>
            <a:r>
              <a:rPr lang="en-US" sz="1500" dirty="0">
                <a:solidFill>
                  <a:srgbClr val="3D4248"/>
                </a:solidFill>
                <a:latin typeface="Calibri" pitchFamily="34" charset="0"/>
                <a:ea typeface="Calibri" pitchFamily="34" charset="-122"/>
                <a:cs typeface="Calibri" pitchFamily="34" charset="-120"/>
              </a:rPr>
              <a:t>Tras decidir no concurrir a esa convocatoria, nos prometimos seguir en contacto para las próximas.</a:t>
            </a:r>
            <a:endParaRPr lang="en-US" sz="1500" dirty="0"/>
          </a:p>
        </p:txBody>
      </p:sp>
      <p:sp>
        <p:nvSpPr>
          <p:cNvPr id="7" name="Text 5"/>
          <p:cNvSpPr/>
          <p:nvPr/>
        </p:nvSpPr>
        <p:spPr>
          <a:xfrm>
            <a:off x="365760" y="4846320"/>
            <a:ext cx="5486400" cy="228600"/>
          </a:xfrm>
          <a:prstGeom prst="rect">
            <a:avLst/>
          </a:prstGeom>
          <a:noFill/>
          <a:ln/>
        </p:spPr>
        <p:txBody>
          <a:bodyPr wrap="square" lIns="0" tIns="0" rIns="0" bIns="0" rtlCol="0" anchor="ctr"/>
          <a:lstStyle/>
          <a:p>
            <a:pPr indent="0" marL="0">
              <a:buNone/>
            </a:pPr>
            <a:r>
              <a:rPr lang="en-US" sz="900" dirty="0">
                <a:solidFill>
                  <a:srgbClr val="7B7E84"/>
                </a:solidFill>
                <a:latin typeface="Calibri" pitchFamily="34" charset="0"/>
                <a:ea typeface="Calibri" pitchFamily="34" charset="-122"/>
                <a:cs typeface="Calibri" pitchFamily="34" charset="-120"/>
              </a:rPr>
              <a:t>Redes cívicas gamificadas</a:t>
            </a:r>
            <a:pPr indent="0" marL="0">
              <a:buNone/>
            </a:pPr>
            <a:r>
              <a:rPr lang="en-US" sz="900" dirty="0">
                <a:solidFill>
                  <a:srgbClr val="7B7E84"/>
                </a:solidFill>
                <a:latin typeface="Calibri" pitchFamily="34" charset="0"/>
                <a:ea typeface="Calibri" pitchFamily="34" charset="-122"/>
                <a:cs typeface="Calibri" pitchFamily="34" charset="-120"/>
              </a:rPr>
              <a:t>   ·   </a:t>
            </a:r>
            <a:pPr indent="0" marL="0">
              <a:buNone/>
            </a:pPr>
            <a:r>
              <a:rPr lang="en-US" sz="900" dirty="0">
                <a:solidFill>
                  <a:srgbClr val="7B7E84"/>
                </a:solidFill>
                <a:latin typeface="Calibri" pitchFamily="34" charset="0"/>
                <a:ea typeface="Calibri" pitchFamily="34" charset="-122"/>
                <a:cs typeface="Calibri" pitchFamily="34" charset="-120"/>
              </a:rPr>
              <a:t>F. Rebollo Bautista</a:t>
            </a:r>
            <a:endParaRPr lang="en-US" sz="900" dirty="0"/>
          </a:p>
        </p:txBody>
      </p:sp>
      <p:sp>
        <p:nvSpPr>
          <p:cNvPr id="8" name="Text 6"/>
          <p:cNvSpPr/>
          <p:nvPr/>
        </p:nvSpPr>
        <p:spPr>
          <a:xfrm>
            <a:off x="7772400" y="4846320"/>
            <a:ext cx="1005840" cy="228600"/>
          </a:xfrm>
          <a:prstGeom prst="rect">
            <a:avLst/>
          </a:prstGeom>
          <a:noFill/>
          <a:ln/>
        </p:spPr>
        <p:txBody>
          <a:bodyPr wrap="square" lIns="0" tIns="0" rIns="0" bIns="0" rtlCol="0" anchor="ctr"/>
          <a:lstStyle/>
          <a:p>
            <a:pPr algn="r" indent="0" marL="0">
              <a:buNone/>
            </a:pPr>
            <a:r>
              <a:rPr lang="en-US" sz="900" dirty="0">
                <a:solidFill>
                  <a:srgbClr val="7B7E84"/>
                </a:solidFill>
                <a:latin typeface="Calibri" pitchFamily="34" charset="0"/>
                <a:ea typeface="Calibri" pitchFamily="34" charset="-122"/>
                <a:cs typeface="Calibri" pitchFamily="34" charset="-120"/>
              </a:rPr>
              <a:t>3 / 11</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365760" y="274320"/>
            <a:ext cx="36576" cy="292608"/>
          </a:xfrm>
          <a:prstGeom prst="rect">
            <a:avLst/>
          </a:prstGeom>
          <a:solidFill>
            <a:srgbClr val="B85042"/>
          </a:solidFill>
          <a:ln w="12700">
            <a:solidFill>
              <a:srgbClr val="B85042"/>
            </a:solidFill>
            <a:prstDash val="solid"/>
          </a:ln>
        </p:spPr>
      </p:sp>
      <p:sp>
        <p:nvSpPr>
          <p:cNvPr id="3" name="Text 1"/>
          <p:cNvSpPr/>
          <p:nvPr/>
        </p:nvSpPr>
        <p:spPr>
          <a:xfrm>
            <a:off x="475488" y="237744"/>
            <a:ext cx="548640" cy="365760"/>
          </a:xfrm>
          <a:prstGeom prst="rect">
            <a:avLst/>
          </a:prstGeom>
          <a:noFill/>
          <a:ln/>
        </p:spPr>
        <p:txBody>
          <a:bodyPr wrap="square" lIns="0" tIns="0" rIns="0" bIns="0" rtlCol="0" anchor="ctr"/>
          <a:lstStyle/>
          <a:p>
            <a:pPr algn="l" indent="0" marL="0">
              <a:buNone/>
            </a:pPr>
            <a:r>
              <a:rPr lang="en-US" sz="1600" i="1" dirty="0">
                <a:solidFill>
                  <a:srgbClr val="B85042"/>
                </a:solidFill>
                <a:latin typeface="Cambria" pitchFamily="34" charset="0"/>
                <a:ea typeface="Cambria" pitchFamily="34" charset="-122"/>
                <a:cs typeface="Cambria" pitchFamily="34" charset="-120"/>
              </a:rPr>
              <a:t>III</a:t>
            </a:r>
            <a:endParaRPr lang="en-US" sz="1600" dirty="0"/>
          </a:p>
        </p:txBody>
      </p:sp>
      <p:sp>
        <p:nvSpPr>
          <p:cNvPr id="4" name="Text 2"/>
          <p:cNvSpPr/>
          <p:nvPr/>
        </p:nvSpPr>
        <p:spPr>
          <a:xfrm>
            <a:off x="365760" y="713232"/>
            <a:ext cx="8412480" cy="548640"/>
          </a:xfrm>
          <a:prstGeom prst="rect">
            <a:avLst/>
          </a:prstGeom>
          <a:noFill/>
          <a:ln/>
        </p:spPr>
        <p:txBody>
          <a:bodyPr wrap="square" lIns="0" tIns="0" rIns="0" bIns="0" rtlCol="0" anchor="ctr"/>
          <a:lstStyle/>
          <a:p>
            <a:pPr indent="0" marL="0">
              <a:buNone/>
            </a:pPr>
            <a:r>
              <a:rPr lang="en-US" sz="2400" dirty="0">
                <a:solidFill>
                  <a:srgbClr val="3D4248"/>
                </a:solidFill>
                <a:latin typeface="Cambria" pitchFamily="34" charset="0"/>
                <a:ea typeface="Cambria" pitchFamily="34" charset="-122"/>
                <a:cs typeface="Cambria" pitchFamily="34" charset="-120"/>
              </a:rPr>
              <a:t>2021  ·  análisis desde la nueva perspectiva europea</a:t>
            </a:r>
            <a:endParaRPr lang="en-US" sz="2400" dirty="0"/>
          </a:p>
        </p:txBody>
      </p:sp>
      <p:sp>
        <p:nvSpPr>
          <p:cNvPr id="5" name="Text 3"/>
          <p:cNvSpPr/>
          <p:nvPr/>
        </p:nvSpPr>
        <p:spPr>
          <a:xfrm>
            <a:off x="365760" y="1243584"/>
            <a:ext cx="8412480" cy="365760"/>
          </a:xfrm>
          <a:prstGeom prst="rect">
            <a:avLst/>
          </a:prstGeom>
          <a:noFill/>
          <a:ln/>
        </p:spPr>
        <p:txBody>
          <a:bodyPr wrap="square" lIns="0" tIns="0" rIns="0" bIns="0" rtlCol="0" anchor="ctr"/>
          <a:lstStyle/>
          <a:p>
            <a:pPr indent="0" marL="0">
              <a:buNone/>
            </a:pPr>
            <a:r>
              <a:rPr lang="en-US" sz="1500" i="1" dirty="0">
                <a:solidFill>
                  <a:srgbClr val="5A6068"/>
                </a:solidFill>
                <a:latin typeface="Calibri" pitchFamily="34" charset="0"/>
                <a:ea typeface="Calibri" pitchFamily="34" charset="-122"/>
                <a:cs typeface="Calibri" pitchFamily="34" charset="-120"/>
              </a:rPr>
              <a:t>Segunda tesina en el Colegio de Europa: el déficit democrático y la web 3.0</a:t>
            </a:r>
            <a:endParaRPr lang="en-US" sz="1500" dirty="0"/>
          </a:p>
        </p:txBody>
      </p:sp>
      <p:sp>
        <p:nvSpPr>
          <p:cNvPr id="6" name="Text 4"/>
          <p:cNvSpPr/>
          <p:nvPr/>
        </p:nvSpPr>
        <p:spPr>
          <a:xfrm>
            <a:off x="548640" y="1920240"/>
            <a:ext cx="8046720" cy="2651760"/>
          </a:xfrm>
          <a:prstGeom prst="rect">
            <a:avLst/>
          </a:prstGeom>
          <a:noFill/>
          <a:ln/>
        </p:spPr>
        <p:txBody>
          <a:bodyPr wrap="square" lIns="0" tIns="0" rIns="0" bIns="0" rtlCol="0" anchor="t"/>
          <a:lstStyle/>
          <a:p>
            <a:pPr indent="0" marL="0">
              <a:spcAft>
                <a:spcPts val="500"/>
              </a:spcAft>
              <a:buNone/>
            </a:pPr>
            <a:r>
              <a:rPr lang="en-US" sz="1400" dirty="0">
                <a:solidFill>
                  <a:srgbClr val="3D4248"/>
                </a:solidFill>
                <a:latin typeface="Calibri" pitchFamily="34" charset="0"/>
                <a:ea typeface="Calibri" pitchFamily="34" charset="-122"/>
                <a:cs typeface="Calibri" pitchFamily="34" charset="-120"/>
              </a:rPr>
              <a:t>Tras intentos fallidos de tutor o aval institucional para un Doctorado Industrial con la ULPGC (sin facultad de Ciencias Políticas, sin posibilidad de tiempo completo), consigo una beca en la </a:t>
            </a:r>
            <a:pPr indent="0" marL="0">
              <a:spcAft>
                <a:spcPts val="500"/>
              </a:spcAft>
              <a:buNone/>
            </a:pPr>
            <a:r>
              <a:rPr lang="en-US" sz="1400" b="1" dirty="0">
                <a:solidFill>
                  <a:srgbClr val="3D4248"/>
                </a:solidFill>
                <a:latin typeface="Calibri" pitchFamily="34" charset="0"/>
                <a:ea typeface="Calibri" pitchFamily="34" charset="-122"/>
                <a:cs typeface="Calibri" pitchFamily="34" charset="-120"/>
              </a:rPr>
              <a:t>delegación del Gobierno de Canarias</a:t>
            </a:r>
            <a:pPr indent="0" marL="0">
              <a:spcAft>
                <a:spcPts val="500"/>
              </a:spcAft>
              <a:buNone/>
            </a:pPr>
            <a:r>
              <a:rPr lang="en-US" sz="1400" dirty="0">
                <a:solidFill>
                  <a:srgbClr val="3D4248"/>
                </a:solidFill>
                <a:latin typeface="Calibri" pitchFamily="34" charset="0"/>
                <a:ea typeface="Calibri" pitchFamily="34" charset="-122"/>
                <a:cs typeface="Calibri" pitchFamily="34" charset="-120"/>
              </a:rPr>
              <a:t> y posteriormente otra en el </a:t>
            </a:r>
            <a:pPr indent="0" marL="0">
              <a:spcAft>
                <a:spcPts val="500"/>
              </a:spcAft>
              <a:buNone/>
            </a:pPr>
            <a:r>
              <a:rPr lang="en-US" sz="1400" b="1" dirty="0">
                <a:solidFill>
                  <a:srgbClr val="3D4248"/>
                </a:solidFill>
                <a:latin typeface="Calibri" pitchFamily="34" charset="0"/>
                <a:ea typeface="Calibri" pitchFamily="34" charset="-122"/>
                <a:cs typeface="Calibri" pitchFamily="34" charset="-120"/>
              </a:rPr>
              <a:t>Colegio de Europa</a:t>
            </a:r>
            <a:pPr indent="0" marL="0">
              <a:spcAft>
                <a:spcPts val="500"/>
              </a:spcAft>
              <a:buNone/>
            </a:pPr>
            <a:r>
              <a:rPr lang="en-US" sz="1400" dirty="0">
                <a:solidFill>
                  <a:srgbClr val="3D4248"/>
                </a:solidFill>
                <a:latin typeface="Calibri" pitchFamily="34" charset="0"/>
                <a:ea typeface="Calibri" pitchFamily="34" charset="-122"/>
                <a:cs typeface="Calibri" pitchFamily="34" charset="-120"/>
              </a:rPr>
              <a:t>, donde escribo la segunda tesina: ¿se puede reducir el déficit democrático denunciado por Hix y Moravscik? Mi profesor, el Dr. Hodson, tenía relación académica estrecha con ambos y me anima a seguir lo que hace la Comisión.
</a:t>
            </a:r>
            <a:pPr indent="0" marL="0">
              <a:spcAft>
                <a:spcPts val="500"/>
              </a:spcAft>
              <a:buNone/>
            </a:pPr>
            <a:r>
              <a:rPr lang="en-US" sz="1400" dirty="0">
                <a:solidFill>
                  <a:srgbClr val="3D4248"/>
                </a:solidFill>
                <a:latin typeface="Calibri" pitchFamily="34" charset="0"/>
                <a:ea typeface="Calibri" pitchFamily="34" charset="-122"/>
                <a:cs typeface="Calibri" pitchFamily="34" charset="-120"/>
              </a:rPr>
              <a:t>Durante 2020, post-COVID, se anuncia </a:t>
            </a:r>
            <a:pPr indent="0" marL="0">
              <a:spcAft>
                <a:spcPts val="500"/>
              </a:spcAft>
              <a:buNone/>
            </a:pPr>
            <a:r>
              <a:rPr lang="en-US" sz="1400" b="1" dirty="0">
                <a:solidFill>
                  <a:srgbClr val="3D4248"/>
                </a:solidFill>
                <a:latin typeface="Calibri" pitchFamily="34" charset="0"/>
                <a:ea typeface="Calibri" pitchFamily="34" charset="-122"/>
                <a:cs typeface="Calibri" pitchFamily="34" charset="-120"/>
              </a:rPr>
              <a:t>FuturEU</a:t>
            </a:r>
            <a:pPr indent="0" marL="0">
              <a:spcAft>
                <a:spcPts val="500"/>
              </a:spcAft>
              <a:buNone/>
            </a:pPr>
            <a:r>
              <a:rPr lang="en-US" sz="1400" dirty="0">
                <a:solidFill>
                  <a:srgbClr val="3D4248"/>
                </a:solidFill>
                <a:latin typeface="Calibri" pitchFamily="34" charset="0"/>
                <a:ea typeface="Calibri" pitchFamily="34" charset="-122"/>
                <a:cs typeface="Calibri" pitchFamily="34" charset="-120"/>
              </a:rPr>
              <a:t> como medida estrella de la Conferencia sobre el Futuro de Europa, con gran expectación sobre el acercamiento digital de Europa al ciudadano local. En la rueda de prensa se ve que, </a:t>
            </a:r>
            <a:pPr indent="0" marL="0">
              <a:spcAft>
                <a:spcPts val="500"/>
              </a:spcAft>
              <a:buNone/>
            </a:pPr>
            <a:r>
              <a:rPr lang="en-US" sz="1400" i="1" dirty="0">
                <a:solidFill>
                  <a:srgbClr val="B85042"/>
                </a:solidFill>
                <a:latin typeface="Calibri" pitchFamily="34" charset="0"/>
                <a:ea typeface="Calibri" pitchFamily="34" charset="-122"/>
                <a:cs typeface="Calibri" pitchFamily="34" charset="-120"/>
              </a:rPr>
              <a:t>pese a contratar a Decidim para una importación personalizada, ha sido vaciada de los elementos ciudadanos y de web 3.0</a:t>
            </a:r>
            <a:pPr indent="0" marL="0">
              <a:spcAft>
                <a:spcPts val="500"/>
              </a:spcAft>
              <a:buNone/>
            </a:pPr>
            <a:r>
              <a:rPr lang="en-US" sz="1400" dirty="0">
                <a:solidFill>
                  <a:srgbClr val="3D4248"/>
                </a:solidFill>
                <a:latin typeface="Calibri" pitchFamily="34" charset="0"/>
                <a:ea typeface="Calibri" pitchFamily="34" charset="-122"/>
                <a:cs typeface="Calibri" pitchFamily="34" charset="-120"/>
              </a:rPr>
              <a:t> que daban sentido al proyecto.</a:t>
            </a:r>
            <a:endParaRPr lang="en-US" sz="1400" dirty="0"/>
          </a:p>
        </p:txBody>
      </p:sp>
      <p:sp>
        <p:nvSpPr>
          <p:cNvPr id="7" name="Text 5"/>
          <p:cNvSpPr/>
          <p:nvPr/>
        </p:nvSpPr>
        <p:spPr>
          <a:xfrm>
            <a:off x="365760" y="4846320"/>
            <a:ext cx="5486400" cy="228600"/>
          </a:xfrm>
          <a:prstGeom prst="rect">
            <a:avLst/>
          </a:prstGeom>
          <a:noFill/>
          <a:ln/>
        </p:spPr>
        <p:txBody>
          <a:bodyPr wrap="square" lIns="0" tIns="0" rIns="0" bIns="0" rtlCol="0" anchor="ctr"/>
          <a:lstStyle/>
          <a:p>
            <a:pPr indent="0" marL="0">
              <a:buNone/>
            </a:pPr>
            <a:r>
              <a:rPr lang="en-US" sz="900" dirty="0">
                <a:solidFill>
                  <a:srgbClr val="7B7E84"/>
                </a:solidFill>
                <a:latin typeface="Calibri" pitchFamily="34" charset="0"/>
                <a:ea typeface="Calibri" pitchFamily="34" charset="-122"/>
                <a:cs typeface="Calibri" pitchFamily="34" charset="-120"/>
              </a:rPr>
              <a:t>Redes cívicas gamificadas</a:t>
            </a:r>
            <a:pPr indent="0" marL="0">
              <a:buNone/>
            </a:pPr>
            <a:r>
              <a:rPr lang="en-US" sz="900" dirty="0">
                <a:solidFill>
                  <a:srgbClr val="7B7E84"/>
                </a:solidFill>
                <a:latin typeface="Calibri" pitchFamily="34" charset="0"/>
                <a:ea typeface="Calibri" pitchFamily="34" charset="-122"/>
                <a:cs typeface="Calibri" pitchFamily="34" charset="-120"/>
              </a:rPr>
              <a:t>   ·   </a:t>
            </a:r>
            <a:pPr indent="0" marL="0">
              <a:buNone/>
            </a:pPr>
            <a:r>
              <a:rPr lang="en-US" sz="900" dirty="0">
                <a:solidFill>
                  <a:srgbClr val="7B7E84"/>
                </a:solidFill>
                <a:latin typeface="Calibri" pitchFamily="34" charset="0"/>
                <a:ea typeface="Calibri" pitchFamily="34" charset="-122"/>
                <a:cs typeface="Calibri" pitchFamily="34" charset="-120"/>
              </a:rPr>
              <a:t>F. Rebollo Bautista</a:t>
            </a:r>
            <a:endParaRPr lang="en-US" sz="900" dirty="0"/>
          </a:p>
        </p:txBody>
      </p:sp>
      <p:sp>
        <p:nvSpPr>
          <p:cNvPr id="8" name="Text 6"/>
          <p:cNvSpPr/>
          <p:nvPr/>
        </p:nvSpPr>
        <p:spPr>
          <a:xfrm>
            <a:off x="7772400" y="4846320"/>
            <a:ext cx="1005840" cy="228600"/>
          </a:xfrm>
          <a:prstGeom prst="rect">
            <a:avLst/>
          </a:prstGeom>
          <a:noFill/>
          <a:ln/>
        </p:spPr>
        <p:txBody>
          <a:bodyPr wrap="square" lIns="0" tIns="0" rIns="0" bIns="0" rtlCol="0" anchor="ctr"/>
          <a:lstStyle/>
          <a:p>
            <a:pPr algn="r" indent="0" marL="0">
              <a:buNone/>
            </a:pPr>
            <a:r>
              <a:rPr lang="en-US" sz="900" dirty="0">
                <a:solidFill>
                  <a:srgbClr val="7B7E84"/>
                </a:solidFill>
                <a:latin typeface="Calibri" pitchFamily="34" charset="0"/>
                <a:ea typeface="Calibri" pitchFamily="34" charset="-122"/>
                <a:cs typeface="Calibri" pitchFamily="34" charset="-120"/>
              </a:rPr>
              <a:t>4 / 11</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365760" y="274320"/>
            <a:ext cx="36576" cy="292608"/>
          </a:xfrm>
          <a:prstGeom prst="rect">
            <a:avLst/>
          </a:prstGeom>
          <a:solidFill>
            <a:srgbClr val="B85042"/>
          </a:solidFill>
          <a:ln w="12700">
            <a:solidFill>
              <a:srgbClr val="B85042"/>
            </a:solidFill>
            <a:prstDash val="solid"/>
          </a:ln>
        </p:spPr>
      </p:sp>
      <p:sp>
        <p:nvSpPr>
          <p:cNvPr id="3" name="Text 1"/>
          <p:cNvSpPr/>
          <p:nvPr/>
        </p:nvSpPr>
        <p:spPr>
          <a:xfrm>
            <a:off x="475488" y="237744"/>
            <a:ext cx="548640" cy="365760"/>
          </a:xfrm>
          <a:prstGeom prst="rect">
            <a:avLst/>
          </a:prstGeom>
          <a:noFill/>
          <a:ln/>
        </p:spPr>
        <p:txBody>
          <a:bodyPr wrap="square" lIns="0" tIns="0" rIns="0" bIns="0" rtlCol="0" anchor="ctr"/>
          <a:lstStyle/>
          <a:p>
            <a:pPr algn="l" indent="0" marL="0">
              <a:buNone/>
            </a:pPr>
            <a:r>
              <a:rPr lang="en-US" sz="1600" i="1" dirty="0">
                <a:solidFill>
                  <a:srgbClr val="B85042"/>
                </a:solidFill>
                <a:latin typeface="Cambria" pitchFamily="34" charset="0"/>
                <a:ea typeface="Cambria" pitchFamily="34" charset="-122"/>
                <a:cs typeface="Cambria" pitchFamily="34" charset="-120"/>
              </a:rPr>
              <a:t>IV</a:t>
            </a:r>
            <a:endParaRPr lang="en-US" sz="1600" dirty="0"/>
          </a:p>
        </p:txBody>
      </p:sp>
      <p:sp>
        <p:nvSpPr>
          <p:cNvPr id="4" name="Text 2"/>
          <p:cNvSpPr/>
          <p:nvPr/>
        </p:nvSpPr>
        <p:spPr>
          <a:xfrm>
            <a:off x="365760" y="713232"/>
            <a:ext cx="8412480" cy="548640"/>
          </a:xfrm>
          <a:prstGeom prst="rect">
            <a:avLst/>
          </a:prstGeom>
          <a:noFill/>
          <a:ln/>
        </p:spPr>
        <p:txBody>
          <a:bodyPr wrap="square" lIns="0" tIns="0" rIns="0" bIns="0" rtlCol="0" anchor="ctr"/>
          <a:lstStyle/>
          <a:p>
            <a:pPr indent="0" marL="0">
              <a:buNone/>
            </a:pPr>
            <a:r>
              <a:rPr lang="en-US" sz="2400" dirty="0">
                <a:solidFill>
                  <a:srgbClr val="3D4248"/>
                </a:solidFill>
                <a:latin typeface="Cambria" pitchFamily="34" charset="0"/>
                <a:ea typeface="Cambria" pitchFamily="34" charset="-122"/>
                <a:cs typeface="Cambria" pitchFamily="34" charset="-120"/>
              </a:rPr>
              <a:t>El fundamento  ·  gamificar es la única forma de competir</a:t>
            </a:r>
            <a:endParaRPr lang="en-US" sz="2400" dirty="0"/>
          </a:p>
        </p:txBody>
      </p:sp>
      <p:sp>
        <p:nvSpPr>
          <p:cNvPr id="5" name="Text 3"/>
          <p:cNvSpPr/>
          <p:nvPr/>
        </p:nvSpPr>
        <p:spPr>
          <a:xfrm>
            <a:off x="365760" y="1243584"/>
            <a:ext cx="8412480" cy="365760"/>
          </a:xfrm>
          <a:prstGeom prst="rect">
            <a:avLst/>
          </a:prstGeom>
          <a:noFill/>
          <a:ln/>
        </p:spPr>
        <p:txBody>
          <a:bodyPr wrap="square" lIns="0" tIns="0" rIns="0" bIns="0" rtlCol="0" anchor="ctr"/>
          <a:lstStyle/>
          <a:p>
            <a:pPr indent="0" marL="0">
              <a:buNone/>
            </a:pPr>
            <a:r>
              <a:rPr lang="en-US" sz="1300" i="1" dirty="0">
                <a:solidFill>
                  <a:srgbClr val="5A6068"/>
                </a:solidFill>
                <a:latin typeface="Calibri" pitchFamily="34" charset="0"/>
                <a:ea typeface="Calibri" pitchFamily="34" charset="-122"/>
                <a:cs typeface="Calibri" pitchFamily="34" charset="-120"/>
              </a:rPr>
              <a:t>Si lo público quiere recuperar la atención del ciudadano, debe usar las mismas reglas del feedback loop privado — pero al servicio del bien común</a:t>
            </a:r>
            <a:endParaRPr lang="en-US" sz="1300" dirty="0"/>
          </a:p>
        </p:txBody>
      </p:sp>
      <p:pic>
        <p:nvPicPr>
          <p:cNvPr id="6" name="Image 0" descr="assets/chart_growth.png">    </p:cNvPr>
          <p:cNvPicPr>
            <a:picLocks noChangeAspect="1"/>
          </p:cNvPicPr>
          <p:nvPr/>
        </p:nvPicPr>
        <p:blipFill>
          <a:blip r:embed="rId2"/>
          <a:stretch>
            <a:fillRect/>
          </a:stretch>
        </p:blipFill>
        <p:spPr>
          <a:xfrm>
            <a:off x="365760" y="1691640"/>
            <a:ext cx="4754880" cy="2651760"/>
          </a:xfrm>
          <a:prstGeom prst="rect">
            <a:avLst/>
          </a:prstGeom>
        </p:spPr>
      </p:pic>
      <p:sp>
        <p:nvSpPr>
          <p:cNvPr id="7" name="Text 4"/>
          <p:cNvSpPr/>
          <p:nvPr/>
        </p:nvSpPr>
        <p:spPr>
          <a:xfrm>
            <a:off x="365760" y="4343400"/>
            <a:ext cx="4937760" cy="365760"/>
          </a:xfrm>
          <a:prstGeom prst="rect">
            <a:avLst/>
          </a:prstGeom>
          <a:noFill/>
          <a:ln/>
        </p:spPr>
        <p:txBody>
          <a:bodyPr wrap="square" lIns="0" tIns="0" rIns="0" bIns="0" rtlCol="0" anchor="ctr"/>
          <a:lstStyle/>
          <a:p>
            <a:pPr indent="0" marL="0">
              <a:buNone/>
            </a:pPr>
            <a:r>
              <a:rPr lang="en-US" sz="900" i="1" dirty="0">
                <a:solidFill>
                  <a:srgbClr val="7B7E84"/>
                </a:solidFill>
                <a:latin typeface="Calibri" pitchFamily="34" charset="0"/>
                <a:ea typeface="Calibri" pitchFamily="34" charset="-122"/>
                <a:cs typeface="Calibri" pitchFamily="34" charset="-120"/>
              </a:rPr>
              <a:t>Tiempo diario en smartphone y uso problemático en adolescentes (España, agregado DataReportal · INE · GWI · estudios universitarios, 2016-2026)</a:t>
            </a:r>
            <a:endParaRPr lang="en-US" sz="900" dirty="0"/>
          </a:p>
        </p:txBody>
      </p:sp>
      <p:sp>
        <p:nvSpPr>
          <p:cNvPr id="8" name="Shape 5"/>
          <p:cNvSpPr/>
          <p:nvPr/>
        </p:nvSpPr>
        <p:spPr>
          <a:xfrm>
            <a:off x="5349240" y="1691640"/>
            <a:ext cx="45720" cy="868680"/>
          </a:xfrm>
          <a:prstGeom prst="rect">
            <a:avLst/>
          </a:prstGeom>
          <a:solidFill>
            <a:srgbClr val="B85042"/>
          </a:solidFill>
          <a:ln w="12700">
            <a:solidFill>
              <a:srgbClr val="B85042"/>
            </a:solidFill>
            <a:prstDash val="solid"/>
          </a:ln>
        </p:spPr>
      </p:sp>
      <p:sp>
        <p:nvSpPr>
          <p:cNvPr id="9" name="Text 6"/>
          <p:cNvSpPr/>
          <p:nvPr/>
        </p:nvSpPr>
        <p:spPr>
          <a:xfrm>
            <a:off x="5486400" y="1673352"/>
            <a:ext cx="3291840" cy="228600"/>
          </a:xfrm>
          <a:prstGeom prst="rect">
            <a:avLst/>
          </a:prstGeom>
          <a:noFill/>
          <a:ln/>
        </p:spPr>
        <p:txBody>
          <a:bodyPr wrap="square" lIns="0" tIns="0" rIns="0" bIns="0" rtlCol="0" anchor="ctr"/>
          <a:lstStyle/>
          <a:p>
            <a:pPr indent="0" marL="0">
              <a:buNone/>
            </a:pPr>
            <a:r>
              <a:rPr lang="en-US" sz="900" b="1" spc="400" kern="0" dirty="0">
                <a:solidFill>
                  <a:srgbClr val="B85042"/>
                </a:solidFill>
                <a:latin typeface="Calibri" pitchFamily="34" charset="0"/>
                <a:ea typeface="Calibri" pitchFamily="34" charset="-122"/>
                <a:cs typeface="Calibri" pitchFamily="34" charset="-120"/>
              </a:rPr>
              <a:t>EL PROBLEMA</a:t>
            </a:r>
            <a:endParaRPr lang="en-US" sz="900" dirty="0"/>
          </a:p>
        </p:txBody>
      </p:sp>
      <p:sp>
        <p:nvSpPr>
          <p:cNvPr id="10" name="Text 7"/>
          <p:cNvSpPr/>
          <p:nvPr/>
        </p:nvSpPr>
        <p:spPr>
          <a:xfrm>
            <a:off x="5486400" y="1856232"/>
            <a:ext cx="3291840" cy="292608"/>
          </a:xfrm>
          <a:prstGeom prst="rect">
            <a:avLst/>
          </a:prstGeom>
          <a:noFill/>
          <a:ln/>
        </p:spPr>
        <p:txBody>
          <a:bodyPr wrap="square" lIns="0" tIns="0" rIns="0" bIns="0" rtlCol="0" anchor="ctr"/>
          <a:lstStyle/>
          <a:p>
            <a:pPr indent="0" marL="0">
              <a:buNone/>
            </a:pPr>
            <a:r>
              <a:rPr lang="en-US" sz="1600" dirty="0">
                <a:solidFill>
                  <a:srgbClr val="3D4248"/>
                </a:solidFill>
                <a:latin typeface="Cambria" pitchFamily="34" charset="0"/>
                <a:ea typeface="Cambria" pitchFamily="34" charset="-122"/>
                <a:cs typeface="Cambria" pitchFamily="34" charset="-120"/>
              </a:rPr>
              <a:t>+125% en una década</a:t>
            </a:r>
            <a:endParaRPr lang="en-US" sz="1600" dirty="0"/>
          </a:p>
        </p:txBody>
      </p:sp>
      <p:sp>
        <p:nvSpPr>
          <p:cNvPr id="11" name="Text 8"/>
          <p:cNvSpPr/>
          <p:nvPr/>
        </p:nvSpPr>
        <p:spPr>
          <a:xfrm>
            <a:off x="5486400" y="2148840"/>
            <a:ext cx="3291840" cy="457200"/>
          </a:xfrm>
          <a:prstGeom prst="rect">
            <a:avLst/>
          </a:prstGeom>
          <a:noFill/>
          <a:ln/>
        </p:spPr>
        <p:txBody>
          <a:bodyPr wrap="square" lIns="0" tIns="0" rIns="0" bIns="0" rtlCol="0" anchor="ctr"/>
          <a:lstStyle/>
          <a:p>
            <a:pPr indent="0" marL="0">
              <a:buNone/>
            </a:pPr>
            <a:r>
              <a:rPr lang="en-US" sz="1000" dirty="0">
                <a:solidFill>
                  <a:srgbClr val="5A6068"/>
                </a:solidFill>
                <a:latin typeface="Calibri" pitchFamily="34" charset="0"/>
                <a:ea typeface="Calibri" pitchFamily="34" charset="-122"/>
                <a:cs typeface="Calibri" pitchFamily="34" charset="-120"/>
              </a:rPr>
              <a:t>Pasamos de 2,4 h diarias en smartphone (2016) a 5,4 h (2026). El móvil ha capturado el tiempo que antes dedicábamos al barrio y a la asamblea.</a:t>
            </a:r>
            <a:endParaRPr lang="en-US" sz="1000" dirty="0"/>
          </a:p>
        </p:txBody>
      </p:sp>
      <p:sp>
        <p:nvSpPr>
          <p:cNvPr id="12" name="Shape 9"/>
          <p:cNvSpPr/>
          <p:nvPr/>
        </p:nvSpPr>
        <p:spPr>
          <a:xfrm>
            <a:off x="5349240" y="2606040"/>
            <a:ext cx="45720" cy="868680"/>
          </a:xfrm>
          <a:prstGeom prst="rect">
            <a:avLst/>
          </a:prstGeom>
          <a:solidFill>
            <a:srgbClr val="BC9046"/>
          </a:solidFill>
          <a:ln w="12700">
            <a:solidFill>
              <a:srgbClr val="BC9046"/>
            </a:solidFill>
            <a:prstDash val="solid"/>
          </a:ln>
        </p:spPr>
      </p:sp>
      <p:sp>
        <p:nvSpPr>
          <p:cNvPr id="13" name="Text 10"/>
          <p:cNvSpPr/>
          <p:nvPr/>
        </p:nvSpPr>
        <p:spPr>
          <a:xfrm>
            <a:off x="5486400" y="2587752"/>
            <a:ext cx="3291840" cy="228600"/>
          </a:xfrm>
          <a:prstGeom prst="rect">
            <a:avLst/>
          </a:prstGeom>
          <a:noFill/>
          <a:ln/>
        </p:spPr>
        <p:txBody>
          <a:bodyPr wrap="square" lIns="0" tIns="0" rIns="0" bIns="0" rtlCol="0" anchor="ctr"/>
          <a:lstStyle/>
          <a:p>
            <a:pPr indent="0" marL="0">
              <a:buNone/>
            </a:pPr>
            <a:r>
              <a:rPr lang="en-US" sz="900" b="1" spc="400" kern="0" dirty="0">
                <a:solidFill>
                  <a:srgbClr val="BC9046"/>
                </a:solidFill>
                <a:latin typeface="Calibri" pitchFamily="34" charset="0"/>
                <a:ea typeface="Calibri" pitchFamily="34" charset="-122"/>
                <a:cs typeface="Calibri" pitchFamily="34" charset="-120"/>
              </a:rPr>
              <a:t>LA MECÁNICA</a:t>
            </a:r>
            <a:endParaRPr lang="en-US" sz="900" dirty="0"/>
          </a:p>
        </p:txBody>
      </p:sp>
      <p:sp>
        <p:nvSpPr>
          <p:cNvPr id="14" name="Text 11"/>
          <p:cNvSpPr/>
          <p:nvPr/>
        </p:nvSpPr>
        <p:spPr>
          <a:xfrm>
            <a:off x="5486400" y="2770632"/>
            <a:ext cx="3291840" cy="292608"/>
          </a:xfrm>
          <a:prstGeom prst="rect">
            <a:avLst/>
          </a:prstGeom>
          <a:noFill/>
          <a:ln/>
        </p:spPr>
        <p:txBody>
          <a:bodyPr wrap="square" lIns="0" tIns="0" rIns="0" bIns="0" rtlCol="0" anchor="ctr"/>
          <a:lstStyle/>
          <a:p>
            <a:pPr indent="0" marL="0">
              <a:buNone/>
            </a:pPr>
            <a:r>
              <a:rPr lang="en-US" sz="1600" dirty="0">
                <a:solidFill>
                  <a:srgbClr val="3D4248"/>
                </a:solidFill>
                <a:latin typeface="Cambria" pitchFamily="34" charset="0"/>
                <a:ea typeface="Cambria" pitchFamily="34" charset="-122"/>
                <a:cs typeface="Cambria" pitchFamily="34" charset="-120"/>
              </a:rPr>
              <a:t>Feedback loop + auto-actualización</a:t>
            </a:r>
            <a:endParaRPr lang="en-US" sz="1600" dirty="0"/>
          </a:p>
        </p:txBody>
      </p:sp>
      <p:sp>
        <p:nvSpPr>
          <p:cNvPr id="15" name="Text 12"/>
          <p:cNvSpPr/>
          <p:nvPr/>
        </p:nvSpPr>
        <p:spPr>
          <a:xfrm>
            <a:off x="5486400" y="3063240"/>
            <a:ext cx="3291840" cy="457200"/>
          </a:xfrm>
          <a:prstGeom prst="rect">
            <a:avLst/>
          </a:prstGeom>
          <a:noFill/>
          <a:ln/>
        </p:spPr>
        <p:txBody>
          <a:bodyPr wrap="square" lIns="0" tIns="0" rIns="0" bIns="0" rtlCol="0" anchor="ctr"/>
          <a:lstStyle/>
          <a:p>
            <a:pPr indent="0" marL="0">
              <a:buNone/>
            </a:pPr>
            <a:r>
              <a:rPr lang="en-US" sz="1000" dirty="0">
                <a:solidFill>
                  <a:srgbClr val="5A6068"/>
                </a:solidFill>
                <a:latin typeface="Calibri" pitchFamily="34" charset="0"/>
                <a:ea typeface="Calibri" pitchFamily="34" charset="-122"/>
                <a:cs typeface="Calibri" pitchFamily="34" charset="-120"/>
              </a:rPr>
              <a:t>Las redes funcionan vinculando refuerzos a la búsqueda maslowiana de auto-actualización. No es magia: es psicología conductual aplicada con métricas.</a:t>
            </a:r>
            <a:endParaRPr lang="en-US" sz="1000" dirty="0"/>
          </a:p>
        </p:txBody>
      </p:sp>
      <p:sp>
        <p:nvSpPr>
          <p:cNvPr id="16" name="Shape 13"/>
          <p:cNvSpPr/>
          <p:nvPr/>
        </p:nvSpPr>
        <p:spPr>
          <a:xfrm>
            <a:off x="5349240" y="3520440"/>
            <a:ext cx="45720" cy="868680"/>
          </a:xfrm>
          <a:prstGeom prst="rect">
            <a:avLst/>
          </a:prstGeom>
          <a:solidFill>
            <a:srgbClr val="5F9169"/>
          </a:solidFill>
          <a:ln w="12700">
            <a:solidFill>
              <a:srgbClr val="5F9169"/>
            </a:solidFill>
            <a:prstDash val="solid"/>
          </a:ln>
        </p:spPr>
      </p:sp>
      <p:sp>
        <p:nvSpPr>
          <p:cNvPr id="17" name="Text 14"/>
          <p:cNvSpPr/>
          <p:nvPr/>
        </p:nvSpPr>
        <p:spPr>
          <a:xfrm>
            <a:off x="5486400" y="3502152"/>
            <a:ext cx="3291840" cy="228600"/>
          </a:xfrm>
          <a:prstGeom prst="rect">
            <a:avLst/>
          </a:prstGeom>
          <a:noFill/>
          <a:ln/>
        </p:spPr>
        <p:txBody>
          <a:bodyPr wrap="square" lIns="0" tIns="0" rIns="0" bIns="0" rtlCol="0" anchor="ctr"/>
          <a:lstStyle/>
          <a:p>
            <a:pPr indent="0" marL="0">
              <a:buNone/>
            </a:pPr>
            <a:r>
              <a:rPr lang="en-US" sz="900" b="1" spc="400" kern="0" dirty="0">
                <a:solidFill>
                  <a:srgbClr val="5F9169"/>
                </a:solidFill>
                <a:latin typeface="Calibri" pitchFamily="34" charset="0"/>
                <a:ea typeface="Calibri" pitchFamily="34" charset="-122"/>
                <a:cs typeface="Calibri" pitchFamily="34" charset="-120"/>
              </a:rPr>
              <a:t>LA RESPUESTA CÍVICA</a:t>
            </a:r>
            <a:endParaRPr lang="en-US" sz="900" dirty="0"/>
          </a:p>
        </p:txBody>
      </p:sp>
      <p:sp>
        <p:nvSpPr>
          <p:cNvPr id="18" name="Text 15"/>
          <p:cNvSpPr/>
          <p:nvPr/>
        </p:nvSpPr>
        <p:spPr>
          <a:xfrm>
            <a:off x="5486400" y="3685032"/>
            <a:ext cx="3291840" cy="292608"/>
          </a:xfrm>
          <a:prstGeom prst="rect">
            <a:avLst/>
          </a:prstGeom>
          <a:noFill/>
          <a:ln/>
        </p:spPr>
        <p:txBody>
          <a:bodyPr wrap="square" lIns="0" tIns="0" rIns="0" bIns="0" rtlCol="0" anchor="ctr"/>
          <a:lstStyle/>
          <a:p>
            <a:pPr indent="0" marL="0">
              <a:buNone/>
            </a:pPr>
            <a:r>
              <a:rPr lang="en-US" sz="1600" dirty="0">
                <a:solidFill>
                  <a:srgbClr val="3D4248"/>
                </a:solidFill>
                <a:latin typeface="Cambria" pitchFamily="34" charset="0"/>
                <a:ea typeface="Cambria" pitchFamily="34" charset="-122"/>
                <a:cs typeface="Cambria" pitchFamily="34" charset="-120"/>
              </a:rPr>
              <a:t>Competir a su mismo nivel</a:t>
            </a:r>
            <a:endParaRPr lang="en-US" sz="1600" dirty="0"/>
          </a:p>
        </p:txBody>
      </p:sp>
      <p:sp>
        <p:nvSpPr>
          <p:cNvPr id="19" name="Text 16"/>
          <p:cNvSpPr/>
          <p:nvPr/>
        </p:nvSpPr>
        <p:spPr>
          <a:xfrm>
            <a:off x="5486400" y="3977640"/>
            <a:ext cx="3291840" cy="457200"/>
          </a:xfrm>
          <a:prstGeom prst="rect">
            <a:avLst/>
          </a:prstGeom>
          <a:noFill/>
          <a:ln/>
        </p:spPr>
        <p:txBody>
          <a:bodyPr wrap="square" lIns="0" tIns="0" rIns="0" bIns="0" rtlCol="0" anchor="ctr"/>
          <a:lstStyle/>
          <a:p>
            <a:pPr indent="0" marL="0">
              <a:buNone/>
            </a:pPr>
            <a:r>
              <a:rPr lang="en-US" sz="1000" dirty="0">
                <a:solidFill>
                  <a:srgbClr val="5A6068"/>
                </a:solidFill>
                <a:latin typeface="Calibri" pitchFamily="34" charset="0"/>
                <a:ea typeface="Calibri" pitchFamily="34" charset="-122"/>
                <a:cs typeface="Calibri" pitchFamily="34" charset="-120"/>
              </a:rPr>
              <a:t>La participación tradicional (ventanilla, pleno) no puede ganar a TikTok. Solo gamificando lo público con los mismos resortes —pero al servicio del bien común— recuperamos la atención.</a:t>
            </a:r>
            <a:endParaRPr lang="en-US" sz="1000" dirty="0"/>
          </a:p>
        </p:txBody>
      </p:sp>
      <p:sp>
        <p:nvSpPr>
          <p:cNvPr id="20" name="Text 17"/>
          <p:cNvSpPr/>
          <p:nvPr/>
        </p:nvSpPr>
        <p:spPr>
          <a:xfrm>
            <a:off x="365760" y="4846320"/>
            <a:ext cx="5486400" cy="228600"/>
          </a:xfrm>
          <a:prstGeom prst="rect">
            <a:avLst/>
          </a:prstGeom>
          <a:noFill/>
          <a:ln/>
        </p:spPr>
        <p:txBody>
          <a:bodyPr wrap="square" lIns="0" tIns="0" rIns="0" bIns="0" rtlCol="0" anchor="ctr"/>
          <a:lstStyle/>
          <a:p>
            <a:pPr indent="0" marL="0">
              <a:buNone/>
            </a:pPr>
            <a:r>
              <a:rPr lang="en-US" sz="900" dirty="0">
                <a:solidFill>
                  <a:srgbClr val="7B7E84"/>
                </a:solidFill>
                <a:latin typeface="Calibri" pitchFamily="34" charset="0"/>
                <a:ea typeface="Calibri" pitchFamily="34" charset="-122"/>
                <a:cs typeface="Calibri" pitchFamily="34" charset="-120"/>
              </a:rPr>
              <a:t>Redes cívicas gamificadas</a:t>
            </a:r>
            <a:pPr indent="0" marL="0">
              <a:buNone/>
            </a:pPr>
            <a:r>
              <a:rPr lang="en-US" sz="900" dirty="0">
                <a:solidFill>
                  <a:srgbClr val="7B7E84"/>
                </a:solidFill>
                <a:latin typeface="Calibri" pitchFamily="34" charset="0"/>
                <a:ea typeface="Calibri" pitchFamily="34" charset="-122"/>
                <a:cs typeface="Calibri" pitchFamily="34" charset="-120"/>
              </a:rPr>
              <a:t>   ·   </a:t>
            </a:r>
            <a:pPr indent="0" marL="0">
              <a:buNone/>
            </a:pPr>
            <a:r>
              <a:rPr lang="en-US" sz="900" dirty="0">
                <a:solidFill>
                  <a:srgbClr val="7B7E84"/>
                </a:solidFill>
                <a:latin typeface="Calibri" pitchFamily="34" charset="0"/>
                <a:ea typeface="Calibri" pitchFamily="34" charset="-122"/>
                <a:cs typeface="Calibri" pitchFamily="34" charset="-120"/>
              </a:rPr>
              <a:t>F. Rebollo Bautista</a:t>
            </a:r>
            <a:endParaRPr lang="en-US" sz="900" dirty="0"/>
          </a:p>
        </p:txBody>
      </p:sp>
      <p:sp>
        <p:nvSpPr>
          <p:cNvPr id="21" name="Text 18"/>
          <p:cNvSpPr/>
          <p:nvPr/>
        </p:nvSpPr>
        <p:spPr>
          <a:xfrm>
            <a:off x="7772400" y="4846320"/>
            <a:ext cx="1005840" cy="228600"/>
          </a:xfrm>
          <a:prstGeom prst="rect">
            <a:avLst/>
          </a:prstGeom>
          <a:noFill/>
          <a:ln/>
        </p:spPr>
        <p:txBody>
          <a:bodyPr wrap="square" lIns="0" tIns="0" rIns="0" bIns="0" rtlCol="0" anchor="ctr"/>
          <a:lstStyle/>
          <a:p>
            <a:pPr algn="r" indent="0" marL="0">
              <a:buNone/>
            </a:pPr>
            <a:r>
              <a:rPr lang="en-US" sz="900" dirty="0">
                <a:solidFill>
                  <a:srgbClr val="7B7E84"/>
                </a:solidFill>
                <a:latin typeface="Calibri" pitchFamily="34" charset="0"/>
                <a:ea typeface="Calibri" pitchFamily="34" charset="-122"/>
                <a:cs typeface="Calibri" pitchFamily="34" charset="-120"/>
              </a:rPr>
              <a:t>5 / 11</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365760" y="274320"/>
            <a:ext cx="36576" cy="292608"/>
          </a:xfrm>
          <a:prstGeom prst="rect">
            <a:avLst/>
          </a:prstGeom>
          <a:solidFill>
            <a:srgbClr val="B85042"/>
          </a:solidFill>
          <a:ln w="12700">
            <a:solidFill>
              <a:srgbClr val="B85042"/>
            </a:solidFill>
            <a:prstDash val="solid"/>
          </a:ln>
        </p:spPr>
      </p:sp>
      <p:sp>
        <p:nvSpPr>
          <p:cNvPr id="3" name="Text 1"/>
          <p:cNvSpPr/>
          <p:nvPr/>
        </p:nvSpPr>
        <p:spPr>
          <a:xfrm>
            <a:off x="475488" y="237744"/>
            <a:ext cx="548640" cy="365760"/>
          </a:xfrm>
          <a:prstGeom prst="rect">
            <a:avLst/>
          </a:prstGeom>
          <a:noFill/>
          <a:ln/>
        </p:spPr>
        <p:txBody>
          <a:bodyPr wrap="square" lIns="0" tIns="0" rIns="0" bIns="0" rtlCol="0" anchor="ctr"/>
          <a:lstStyle/>
          <a:p>
            <a:pPr algn="l" indent="0" marL="0">
              <a:buNone/>
            </a:pPr>
            <a:r>
              <a:rPr lang="en-US" sz="1600" i="1" dirty="0">
                <a:solidFill>
                  <a:srgbClr val="B85042"/>
                </a:solidFill>
                <a:latin typeface="Cambria" pitchFamily="34" charset="0"/>
                <a:ea typeface="Cambria" pitchFamily="34" charset="-122"/>
                <a:cs typeface="Cambria" pitchFamily="34" charset="-120"/>
              </a:rPr>
              <a:t>V</a:t>
            </a:r>
            <a:endParaRPr lang="en-US" sz="1600" dirty="0"/>
          </a:p>
        </p:txBody>
      </p:sp>
      <p:sp>
        <p:nvSpPr>
          <p:cNvPr id="4" name="Text 2"/>
          <p:cNvSpPr/>
          <p:nvPr/>
        </p:nvSpPr>
        <p:spPr>
          <a:xfrm>
            <a:off x="365760" y="713232"/>
            <a:ext cx="8412480" cy="548640"/>
          </a:xfrm>
          <a:prstGeom prst="rect">
            <a:avLst/>
          </a:prstGeom>
          <a:noFill/>
          <a:ln/>
        </p:spPr>
        <p:txBody>
          <a:bodyPr wrap="square" lIns="0" tIns="0" rIns="0" bIns="0" rtlCol="0" anchor="ctr"/>
          <a:lstStyle/>
          <a:p>
            <a:pPr indent="0" marL="0">
              <a:buNone/>
            </a:pPr>
            <a:r>
              <a:rPr lang="en-US" sz="2600" dirty="0">
                <a:solidFill>
                  <a:srgbClr val="3D4248"/>
                </a:solidFill>
                <a:latin typeface="Cambria" pitchFamily="34" charset="0"/>
                <a:ea typeface="Cambria" pitchFamily="34" charset="-122"/>
                <a:cs typeface="Cambria" pitchFamily="34" charset="-120"/>
              </a:rPr>
              <a:t>Perspectiva  ·  una app gamificada para el barrio</a:t>
            </a:r>
            <a:endParaRPr lang="en-US" sz="2600" dirty="0"/>
          </a:p>
        </p:txBody>
      </p:sp>
      <p:sp>
        <p:nvSpPr>
          <p:cNvPr id="5" name="Text 3"/>
          <p:cNvSpPr/>
          <p:nvPr/>
        </p:nvSpPr>
        <p:spPr>
          <a:xfrm>
            <a:off x="365760" y="1280160"/>
            <a:ext cx="8412480" cy="365760"/>
          </a:xfrm>
          <a:prstGeom prst="rect">
            <a:avLst/>
          </a:prstGeom>
          <a:noFill/>
          <a:ln/>
        </p:spPr>
        <p:txBody>
          <a:bodyPr wrap="square" lIns="0" tIns="0" rIns="0" bIns="0" rtlCol="0" anchor="ctr"/>
          <a:lstStyle/>
          <a:p>
            <a:pPr indent="0" marL="0">
              <a:buNone/>
            </a:pPr>
            <a:r>
              <a:rPr lang="en-US" sz="1300" i="1" dirty="0">
                <a:solidFill>
                  <a:srgbClr val="5A6068"/>
                </a:solidFill>
                <a:latin typeface="Calibri" pitchFamily="34" charset="0"/>
                <a:ea typeface="Calibri" pitchFamily="34" charset="-122"/>
                <a:cs typeface="Calibri" pitchFamily="34" charset="-120"/>
              </a:rPr>
              <a:t>Tres funciones núcleo, sobre el cursus honorum de la polis griega — la participación como progresión personal</a:t>
            </a:r>
            <a:endParaRPr lang="en-US" sz="1300" dirty="0"/>
          </a:p>
        </p:txBody>
      </p:sp>
      <p:pic>
        <p:nvPicPr>
          <p:cNvPr id="6" name="Image 0" descr="assets/mock_reportar.png">    </p:cNvPr>
          <p:cNvPicPr>
            <a:picLocks noChangeAspect="1"/>
          </p:cNvPicPr>
          <p:nvPr/>
        </p:nvPicPr>
        <p:blipFill>
          <a:blip r:embed="rId2"/>
          <a:stretch>
            <a:fillRect/>
          </a:stretch>
        </p:blipFill>
        <p:spPr>
          <a:xfrm>
            <a:off x="502920" y="1645920"/>
            <a:ext cx="2103120" cy="2331720"/>
          </a:xfrm>
          <a:prstGeom prst="rect">
            <a:avLst/>
          </a:prstGeom>
        </p:spPr>
      </p:pic>
      <p:sp>
        <p:nvSpPr>
          <p:cNvPr id="7" name="Shape 4"/>
          <p:cNvSpPr/>
          <p:nvPr/>
        </p:nvSpPr>
        <p:spPr>
          <a:xfrm>
            <a:off x="502920" y="4078224"/>
            <a:ext cx="27432" cy="274320"/>
          </a:xfrm>
          <a:prstGeom prst="rect">
            <a:avLst/>
          </a:prstGeom>
          <a:solidFill>
            <a:srgbClr val="C57C4F"/>
          </a:solidFill>
          <a:ln w="12700">
            <a:solidFill>
              <a:srgbClr val="C57C4F"/>
            </a:solidFill>
            <a:prstDash val="solid"/>
          </a:ln>
        </p:spPr>
      </p:sp>
      <p:sp>
        <p:nvSpPr>
          <p:cNvPr id="8" name="Text 5"/>
          <p:cNvSpPr/>
          <p:nvPr/>
        </p:nvSpPr>
        <p:spPr>
          <a:xfrm>
            <a:off x="594360" y="4041648"/>
            <a:ext cx="2011680" cy="274320"/>
          </a:xfrm>
          <a:prstGeom prst="rect">
            <a:avLst/>
          </a:prstGeom>
          <a:noFill/>
          <a:ln/>
        </p:spPr>
        <p:txBody>
          <a:bodyPr wrap="square" lIns="0" tIns="0" rIns="0" bIns="0" rtlCol="0" anchor="t"/>
          <a:lstStyle/>
          <a:p>
            <a:pPr indent="0" marL="0">
              <a:buNone/>
            </a:pPr>
            <a:r>
              <a:rPr lang="en-US" sz="1300" b="1" dirty="0">
                <a:solidFill>
                  <a:srgbClr val="3D4248"/>
                </a:solidFill>
                <a:latin typeface="Cambria" pitchFamily="34" charset="0"/>
                <a:ea typeface="Cambria" pitchFamily="34" charset="-122"/>
                <a:cs typeface="Cambria" pitchFamily="34" charset="-120"/>
              </a:rPr>
              <a:t>Reportar incidente</a:t>
            </a:r>
            <a:endParaRPr lang="en-US" sz="1300" dirty="0"/>
          </a:p>
        </p:txBody>
      </p:sp>
      <p:sp>
        <p:nvSpPr>
          <p:cNvPr id="9" name="Text 6"/>
          <p:cNvSpPr/>
          <p:nvPr/>
        </p:nvSpPr>
        <p:spPr>
          <a:xfrm>
            <a:off x="594360" y="4370832"/>
            <a:ext cx="2103120" cy="502920"/>
          </a:xfrm>
          <a:prstGeom prst="rect">
            <a:avLst/>
          </a:prstGeom>
          <a:noFill/>
          <a:ln/>
        </p:spPr>
        <p:txBody>
          <a:bodyPr wrap="square" lIns="0" tIns="0" rIns="0" bIns="0" rtlCol="0" anchor="t"/>
          <a:lstStyle/>
          <a:p>
            <a:pPr indent="0" marL="0">
              <a:buNone/>
            </a:pPr>
            <a:r>
              <a:rPr lang="en-US" sz="900" dirty="0">
                <a:solidFill>
                  <a:srgbClr val="5A6068"/>
                </a:solidFill>
                <a:latin typeface="Calibri" pitchFamily="34" charset="0"/>
                <a:ea typeface="Calibri" pitchFamily="34" charset="-122"/>
                <a:cs typeface="Calibri" pitchFamily="34" charset="-120"/>
              </a:rPr>
              <a:t>Foto + categoría + urgencia. Puntos por reportes verificados; badge por barrio reparado.</a:t>
            </a:r>
            <a:endParaRPr lang="en-US" sz="900" dirty="0"/>
          </a:p>
        </p:txBody>
      </p:sp>
      <p:pic>
        <p:nvPicPr>
          <p:cNvPr id="10" name="Image 1" descr="assets/mock_agora.png">    </p:cNvPr>
          <p:cNvPicPr>
            <a:picLocks noChangeAspect="1"/>
          </p:cNvPicPr>
          <p:nvPr/>
        </p:nvPicPr>
        <p:blipFill>
          <a:blip r:embed="rId3"/>
          <a:stretch>
            <a:fillRect/>
          </a:stretch>
        </p:blipFill>
        <p:spPr>
          <a:xfrm>
            <a:off x="3520440" y="1645920"/>
            <a:ext cx="2103120" cy="2331720"/>
          </a:xfrm>
          <a:prstGeom prst="rect">
            <a:avLst/>
          </a:prstGeom>
        </p:spPr>
      </p:pic>
      <p:sp>
        <p:nvSpPr>
          <p:cNvPr id="11" name="Shape 7"/>
          <p:cNvSpPr/>
          <p:nvPr/>
        </p:nvSpPr>
        <p:spPr>
          <a:xfrm>
            <a:off x="3520440" y="4078224"/>
            <a:ext cx="27432" cy="274320"/>
          </a:xfrm>
          <a:prstGeom prst="rect">
            <a:avLst/>
          </a:prstGeom>
          <a:solidFill>
            <a:srgbClr val="845FA8"/>
          </a:solidFill>
          <a:ln w="12700">
            <a:solidFill>
              <a:srgbClr val="845FA8"/>
            </a:solidFill>
            <a:prstDash val="solid"/>
          </a:ln>
        </p:spPr>
      </p:sp>
      <p:sp>
        <p:nvSpPr>
          <p:cNvPr id="12" name="Text 8"/>
          <p:cNvSpPr/>
          <p:nvPr/>
        </p:nvSpPr>
        <p:spPr>
          <a:xfrm>
            <a:off x="3611880" y="4041648"/>
            <a:ext cx="2011680" cy="274320"/>
          </a:xfrm>
          <a:prstGeom prst="rect">
            <a:avLst/>
          </a:prstGeom>
          <a:noFill/>
          <a:ln/>
        </p:spPr>
        <p:txBody>
          <a:bodyPr wrap="square" lIns="0" tIns="0" rIns="0" bIns="0" rtlCol="0" anchor="t"/>
          <a:lstStyle/>
          <a:p>
            <a:pPr indent="0" marL="0">
              <a:buNone/>
            </a:pPr>
            <a:r>
              <a:rPr lang="en-US" sz="1300" b="1" dirty="0">
                <a:solidFill>
                  <a:srgbClr val="3D4248"/>
                </a:solidFill>
                <a:latin typeface="Cambria" pitchFamily="34" charset="0"/>
                <a:ea typeface="Cambria" pitchFamily="34" charset="-122"/>
                <a:cs typeface="Cambria" pitchFamily="34" charset="-120"/>
              </a:rPr>
              <a:t>Ágora vecinal</a:t>
            </a:r>
            <a:endParaRPr lang="en-US" sz="1300" dirty="0"/>
          </a:p>
        </p:txBody>
      </p:sp>
      <p:sp>
        <p:nvSpPr>
          <p:cNvPr id="13" name="Text 9"/>
          <p:cNvSpPr/>
          <p:nvPr/>
        </p:nvSpPr>
        <p:spPr>
          <a:xfrm>
            <a:off x="3611880" y="4370832"/>
            <a:ext cx="2103120" cy="502920"/>
          </a:xfrm>
          <a:prstGeom prst="rect">
            <a:avLst/>
          </a:prstGeom>
          <a:noFill/>
          <a:ln/>
        </p:spPr>
        <p:txBody>
          <a:bodyPr wrap="square" lIns="0" tIns="0" rIns="0" bIns="0" rtlCol="0" anchor="t"/>
          <a:lstStyle/>
          <a:p>
            <a:pPr indent="0" marL="0">
              <a:buNone/>
            </a:pPr>
            <a:r>
              <a:rPr lang="en-US" sz="900" dirty="0">
                <a:solidFill>
                  <a:srgbClr val="5A6068"/>
                </a:solidFill>
                <a:latin typeface="Calibri" pitchFamily="34" charset="0"/>
                <a:ea typeface="Calibri" pitchFamily="34" charset="-122"/>
                <a:cs typeface="Calibri" pitchFamily="34" charset="-120"/>
              </a:rPr>
              <a:t>Hilos de deliberación local con ranking ciudadano. Los argumentos suben con la calidad, no la velocidad.</a:t>
            </a:r>
            <a:endParaRPr lang="en-US" sz="900" dirty="0"/>
          </a:p>
        </p:txBody>
      </p:sp>
      <p:pic>
        <p:nvPicPr>
          <p:cNvPr id="14" name="Image 2" descr="assets/mock_biblio.png">    </p:cNvPr>
          <p:cNvPicPr>
            <a:picLocks noChangeAspect="1"/>
          </p:cNvPicPr>
          <p:nvPr/>
        </p:nvPicPr>
        <p:blipFill>
          <a:blip r:embed="rId4"/>
          <a:stretch>
            <a:fillRect/>
          </a:stretch>
        </p:blipFill>
        <p:spPr>
          <a:xfrm>
            <a:off x="6537960" y="1645920"/>
            <a:ext cx="2103120" cy="2331720"/>
          </a:xfrm>
          <a:prstGeom prst="rect">
            <a:avLst/>
          </a:prstGeom>
        </p:spPr>
      </p:pic>
      <p:sp>
        <p:nvSpPr>
          <p:cNvPr id="15" name="Shape 10"/>
          <p:cNvSpPr/>
          <p:nvPr/>
        </p:nvSpPr>
        <p:spPr>
          <a:xfrm>
            <a:off x="6537960" y="4078224"/>
            <a:ext cx="27432" cy="274320"/>
          </a:xfrm>
          <a:prstGeom prst="rect">
            <a:avLst/>
          </a:prstGeom>
          <a:solidFill>
            <a:srgbClr val="BC9046"/>
          </a:solidFill>
          <a:ln w="12700">
            <a:solidFill>
              <a:srgbClr val="BC9046"/>
            </a:solidFill>
            <a:prstDash val="solid"/>
          </a:ln>
        </p:spPr>
      </p:sp>
      <p:sp>
        <p:nvSpPr>
          <p:cNvPr id="16" name="Text 11"/>
          <p:cNvSpPr/>
          <p:nvPr/>
        </p:nvSpPr>
        <p:spPr>
          <a:xfrm>
            <a:off x="6629400" y="4041648"/>
            <a:ext cx="2011680" cy="274320"/>
          </a:xfrm>
          <a:prstGeom prst="rect">
            <a:avLst/>
          </a:prstGeom>
          <a:noFill/>
          <a:ln/>
        </p:spPr>
        <p:txBody>
          <a:bodyPr wrap="square" lIns="0" tIns="0" rIns="0" bIns="0" rtlCol="0" anchor="t"/>
          <a:lstStyle/>
          <a:p>
            <a:pPr indent="0" marL="0">
              <a:buNone/>
            </a:pPr>
            <a:r>
              <a:rPr lang="en-US" sz="1300" b="1" dirty="0">
                <a:solidFill>
                  <a:srgbClr val="3D4248"/>
                </a:solidFill>
                <a:latin typeface="Cambria" pitchFamily="34" charset="0"/>
                <a:ea typeface="Cambria" pitchFamily="34" charset="-122"/>
                <a:cs typeface="Cambria" pitchFamily="34" charset="-120"/>
              </a:rPr>
              <a:t>Bibliotheka</a:t>
            </a:r>
            <a:endParaRPr lang="en-US" sz="1300" dirty="0"/>
          </a:p>
        </p:txBody>
      </p:sp>
      <p:sp>
        <p:nvSpPr>
          <p:cNvPr id="17" name="Text 12"/>
          <p:cNvSpPr/>
          <p:nvPr/>
        </p:nvSpPr>
        <p:spPr>
          <a:xfrm>
            <a:off x="6629400" y="4370832"/>
            <a:ext cx="2103120" cy="502920"/>
          </a:xfrm>
          <a:prstGeom prst="rect">
            <a:avLst/>
          </a:prstGeom>
          <a:noFill/>
          <a:ln/>
        </p:spPr>
        <p:txBody>
          <a:bodyPr wrap="square" lIns="0" tIns="0" rIns="0" bIns="0" rtlCol="0" anchor="t"/>
          <a:lstStyle/>
          <a:p>
            <a:pPr indent="0" marL="0">
              <a:buNone/>
            </a:pPr>
            <a:r>
              <a:rPr lang="en-US" sz="900" dirty="0">
                <a:solidFill>
                  <a:srgbClr val="5A6068"/>
                </a:solidFill>
                <a:latin typeface="Calibri" pitchFamily="34" charset="0"/>
                <a:ea typeface="Calibri" pitchFamily="34" charset="-122"/>
                <a:cs typeface="Calibri" pitchFamily="34" charset="-120"/>
              </a:rPr>
              <a:t>Habilidades cívicas adoptables — mediación, cartografía, oratoria, auditoría. Cada destreza desbloquea un rango del cursus honorum.</a:t>
            </a:r>
            <a:endParaRPr lang="en-US" sz="900" dirty="0"/>
          </a:p>
        </p:txBody>
      </p:sp>
      <p:sp>
        <p:nvSpPr>
          <p:cNvPr id="18" name="Text 13"/>
          <p:cNvSpPr/>
          <p:nvPr/>
        </p:nvSpPr>
        <p:spPr>
          <a:xfrm>
            <a:off x="365760" y="4846320"/>
            <a:ext cx="5486400" cy="228600"/>
          </a:xfrm>
          <a:prstGeom prst="rect">
            <a:avLst/>
          </a:prstGeom>
          <a:noFill/>
          <a:ln/>
        </p:spPr>
        <p:txBody>
          <a:bodyPr wrap="square" lIns="0" tIns="0" rIns="0" bIns="0" rtlCol="0" anchor="ctr"/>
          <a:lstStyle/>
          <a:p>
            <a:pPr indent="0" marL="0">
              <a:buNone/>
            </a:pPr>
            <a:r>
              <a:rPr lang="en-US" sz="900" dirty="0">
                <a:solidFill>
                  <a:srgbClr val="7B7E84"/>
                </a:solidFill>
                <a:latin typeface="Calibri" pitchFamily="34" charset="0"/>
                <a:ea typeface="Calibri" pitchFamily="34" charset="-122"/>
                <a:cs typeface="Calibri" pitchFamily="34" charset="-120"/>
              </a:rPr>
              <a:t>Redes cívicas gamificadas</a:t>
            </a:r>
            <a:pPr indent="0" marL="0">
              <a:buNone/>
            </a:pPr>
            <a:r>
              <a:rPr lang="en-US" sz="900" dirty="0">
                <a:solidFill>
                  <a:srgbClr val="7B7E84"/>
                </a:solidFill>
                <a:latin typeface="Calibri" pitchFamily="34" charset="0"/>
                <a:ea typeface="Calibri" pitchFamily="34" charset="-122"/>
                <a:cs typeface="Calibri" pitchFamily="34" charset="-120"/>
              </a:rPr>
              <a:t>   ·   </a:t>
            </a:r>
            <a:pPr indent="0" marL="0">
              <a:buNone/>
            </a:pPr>
            <a:r>
              <a:rPr lang="en-US" sz="900" dirty="0">
                <a:solidFill>
                  <a:srgbClr val="7B7E84"/>
                </a:solidFill>
                <a:latin typeface="Calibri" pitchFamily="34" charset="0"/>
                <a:ea typeface="Calibri" pitchFamily="34" charset="-122"/>
                <a:cs typeface="Calibri" pitchFamily="34" charset="-120"/>
              </a:rPr>
              <a:t>F. Rebollo Bautista</a:t>
            </a:r>
            <a:endParaRPr lang="en-US" sz="900" dirty="0"/>
          </a:p>
        </p:txBody>
      </p:sp>
      <p:sp>
        <p:nvSpPr>
          <p:cNvPr id="19" name="Text 14"/>
          <p:cNvSpPr/>
          <p:nvPr/>
        </p:nvSpPr>
        <p:spPr>
          <a:xfrm>
            <a:off x="7772400" y="4846320"/>
            <a:ext cx="1005840" cy="228600"/>
          </a:xfrm>
          <a:prstGeom prst="rect">
            <a:avLst/>
          </a:prstGeom>
          <a:noFill/>
          <a:ln/>
        </p:spPr>
        <p:txBody>
          <a:bodyPr wrap="square" lIns="0" tIns="0" rIns="0" bIns="0" rtlCol="0" anchor="ctr"/>
          <a:lstStyle/>
          <a:p>
            <a:pPr algn="r" indent="0" marL="0">
              <a:buNone/>
            </a:pPr>
            <a:r>
              <a:rPr lang="en-US" sz="900" dirty="0">
                <a:solidFill>
                  <a:srgbClr val="7B7E84"/>
                </a:solidFill>
                <a:latin typeface="Calibri" pitchFamily="34" charset="0"/>
                <a:ea typeface="Calibri" pitchFamily="34" charset="-122"/>
                <a:cs typeface="Calibri" pitchFamily="34" charset="-120"/>
              </a:rPr>
              <a:t>6 / 11</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365760" y="274320"/>
            <a:ext cx="36576" cy="292608"/>
          </a:xfrm>
          <a:prstGeom prst="rect">
            <a:avLst/>
          </a:prstGeom>
          <a:solidFill>
            <a:srgbClr val="B85042"/>
          </a:solidFill>
          <a:ln w="12700">
            <a:solidFill>
              <a:srgbClr val="B85042"/>
            </a:solidFill>
            <a:prstDash val="solid"/>
          </a:ln>
        </p:spPr>
      </p:sp>
      <p:sp>
        <p:nvSpPr>
          <p:cNvPr id="3" name="Text 1"/>
          <p:cNvSpPr/>
          <p:nvPr/>
        </p:nvSpPr>
        <p:spPr>
          <a:xfrm>
            <a:off x="475488" y="237744"/>
            <a:ext cx="548640" cy="365760"/>
          </a:xfrm>
          <a:prstGeom prst="rect">
            <a:avLst/>
          </a:prstGeom>
          <a:noFill/>
          <a:ln/>
        </p:spPr>
        <p:txBody>
          <a:bodyPr wrap="square" lIns="0" tIns="0" rIns="0" bIns="0" rtlCol="0" anchor="ctr"/>
          <a:lstStyle/>
          <a:p>
            <a:pPr algn="l" indent="0" marL="0">
              <a:buNone/>
            </a:pPr>
            <a:r>
              <a:rPr lang="en-US" sz="1600" i="1" dirty="0">
                <a:solidFill>
                  <a:srgbClr val="B85042"/>
                </a:solidFill>
                <a:latin typeface="Cambria" pitchFamily="34" charset="0"/>
                <a:ea typeface="Cambria" pitchFamily="34" charset="-122"/>
                <a:cs typeface="Cambria" pitchFamily="34" charset="-120"/>
              </a:rPr>
              <a:t>VI</a:t>
            </a:r>
            <a:endParaRPr lang="en-US" sz="1600" dirty="0"/>
          </a:p>
        </p:txBody>
      </p:sp>
      <p:sp>
        <p:nvSpPr>
          <p:cNvPr id="4" name="Text 2"/>
          <p:cNvSpPr/>
          <p:nvPr/>
        </p:nvSpPr>
        <p:spPr>
          <a:xfrm>
            <a:off x="365760" y="713232"/>
            <a:ext cx="8412480" cy="548640"/>
          </a:xfrm>
          <a:prstGeom prst="rect">
            <a:avLst/>
          </a:prstGeom>
          <a:noFill/>
          <a:ln/>
        </p:spPr>
        <p:txBody>
          <a:bodyPr wrap="square" lIns="0" tIns="0" rIns="0" bIns="0" rtlCol="0" anchor="ctr"/>
          <a:lstStyle/>
          <a:p>
            <a:pPr indent="0" marL="0">
              <a:buNone/>
            </a:pPr>
            <a:r>
              <a:rPr lang="en-US" sz="2400" dirty="0">
                <a:solidFill>
                  <a:srgbClr val="3D4248"/>
                </a:solidFill>
                <a:latin typeface="Cambria" pitchFamily="34" charset="0"/>
                <a:ea typeface="Cambria" pitchFamily="34" charset="-122"/>
                <a:cs typeface="Cambria" pitchFamily="34" charset="-120"/>
              </a:rPr>
              <a:t>Cómo vamos a operar  ·  KOINOS como actor externo</a:t>
            </a:r>
            <a:endParaRPr lang="en-US" sz="2400" dirty="0"/>
          </a:p>
        </p:txBody>
      </p:sp>
      <p:sp>
        <p:nvSpPr>
          <p:cNvPr id="5" name="Text 3"/>
          <p:cNvSpPr/>
          <p:nvPr/>
        </p:nvSpPr>
        <p:spPr>
          <a:xfrm>
            <a:off x="365760" y="1280160"/>
            <a:ext cx="8412480" cy="365760"/>
          </a:xfrm>
          <a:prstGeom prst="rect">
            <a:avLst/>
          </a:prstGeom>
          <a:noFill/>
          <a:ln/>
        </p:spPr>
        <p:txBody>
          <a:bodyPr wrap="square" lIns="0" tIns="0" rIns="0" bIns="0" rtlCol="0" anchor="ctr"/>
          <a:lstStyle/>
          <a:p>
            <a:pPr indent="0" marL="0">
              <a:buNone/>
            </a:pPr>
            <a:r>
              <a:rPr lang="en-US" sz="1200" i="1" dirty="0">
                <a:solidFill>
                  <a:srgbClr val="5A6068"/>
                </a:solidFill>
                <a:latin typeface="Calibri" pitchFamily="34" charset="0"/>
                <a:ea typeface="Calibri" pitchFamily="34" charset="-122"/>
                <a:cs typeface="Calibri" pitchFamily="34" charset="-120"/>
              </a:rPr>
              <a:t>No es una herramienta del Ayuntamiento — es una red cívica autónoma que cuenta con su participación, pero conserva la frescura propia de una red social</a:t>
            </a:r>
            <a:endParaRPr lang="en-US" sz="1200" dirty="0"/>
          </a:p>
        </p:txBody>
      </p:sp>
      <p:sp>
        <p:nvSpPr>
          <p:cNvPr id="6" name="Shape 4"/>
          <p:cNvSpPr/>
          <p:nvPr/>
        </p:nvSpPr>
        <p:spPr>
          <a:xfrm>
            <a:off x="365760" y="1828800"/>
            <a:ext cx="45720" cy="2423160"/>
          </a:xfrm>
          <a:prstGeom prst="rect">
            <a:avLst/>
          </a:prstGeom>
          <a:solidFill>
            <a:srgbClr val="B85042"/>
          </a:solidFill>
          <a:ln w="12700">
            <a:solidFill>
              <a:srgbClr val="B85042"/>
            </a:solidFill>
            <a:prstDash val="solid"/>
          </a:ln>
        </p:spPr>
      </p:sp>
      <p:sp>
        <p:nvSpPr>
          <p:cNvPr id="7" name="Text 5"/>
          <p:cNvSpPr/>
          <p:nvPr/>
        </p:nvSpPr>
        <p:spPr>
          <a:xfrm>
            <a:off x="502920" y="1810512"/>
            <a:ext cx="3474720" cy="228600"/>
          </a:xfrm>
          <a:prstGeom prst="rect">
            <a:avLst/>
          </a:prstGeom>
          <a:noFill/>
          <a:ln/>
        </p:spPr>
        <p:txBody>
          <a:bodyPr wrap="square" lIns="0" tIns="0" rIns="0" bIns="0" rtlCol="0" anchor="ctr"/>
          <a:lstStyle/>
          <a:p>
            <a:pPr indent="0" marL="0">
              <a:buNone/>
            </a:pPr>
            <a:r>
              <a:rPr lang="en-US" sz="1000" b="1" spc="400" kern="0" dirty="0">
                <a:solidFill>
                  <a:srgbClr val="B85042"/>
                </a:solidFill>
                <a:latin typeface="Calibri" pitchFamily="34" charset="0"/>
                <a:ea typeface="Calibri" pitchFamily="34" charset="-122"/>
                <a:cs typeface="Calibri" pitchFamily="34" charset="-120"/>
              </a:rPr>
              <a:t>EL PRINCIPIO</a:t>
            </a:r>
            <a:endParaRPr lang="en-US" sz="1000" dirty="0"/>
          </a:p>
        </p:txBody>
      </p:sp>
      <p:sp>
        <p:nvSpPr>
          <p:cNvPr id="8" name="Text 6"/>
          <p:cNvSpPr/>
          <p:nvPr/>
        </p:nvSpPr>
        <p:spPr>
          <a:xfrm>
            <a:off x="502920" y="2103120"/>
            <a:ext cx="3474720" cy="1280160"/>
          </a:xfrm>
          <a:prstGeom prst="rect">
            <a:avLst/>
          </a:prstGeom>
          <a:noFill/>
          <a:ln/>
        </p:spPr>
        <p:txBody>
          <a:bodyPr wrap="square" lIns="0" tIns="0" rIns="0" bIns="0" rtlCol="0" anchor="t"/>
          <a:lstStyle/>
          <a:p>
            <a:pPr indent="0" marL="0">
              <a:spcAft>
                <a:spcPts val="400"/>
              </a:spcAft>
              <a:buNone/>
            </a:pPr>
            <a:r>
              <a:rPr lang="en-US" sz="1800" b="1" dirty="0">
                <a:solidFill>
                  <a:srgbClr val="3D4248"/>
                </a:solidFill>
                <a:latin typeface="Cambria" pitchFamily="34" charset="0"/>
                <a:ea typeface="Cambria" pitchFamily="34" charset="-122"/>
                <a:cs typeface="Cambria" pitchFamily="34" charset="-120"/>
              </a:rPr>
              <a:t>Una red cívica gamificada,</a:t>
            </a:r>
            <a:endParaRPr lang="en-US" sz="1800" dirty="0"/>
          </a:p>
          <a:p>
            <a:pPr indent="0" marL="0">
              <a:spcAft>
                <a:spcPts val="400"/>
              </a:spcAft>
              <a:buNone/>
            </a:pPr>
            <a:r>
              <a:rPr lang="en-US" sz="1800" b="1" dirty="0">
                <a:solidFill>
                  <a:srgbClr val="3D4248"/>
                </a:solidFill>
                <a:latin typeface="Cambria" pitchFamily="34" charset="0"/>
                <a:ea typeface="Cambria" pitchFamily="34" charset="-122"/>
                <a:cs typeface="Cambria" pitchFamily="34" charset="-120"/>
              </a:rPr>
              <a:t>operada por un actor externo,</a:t>
            </a:r>
            <a:endParaRPr lang="en-US" sz="1800" dirty="0"/>
          </a:p>
          <a:p>
            <a:pPr indent="0" marL="0">
              <a:spcAft>
                <a:spcPts val="400"/>
              </a:spcAft>
              <a:buNone/>
            </a:pPr>
            <a:r>
              <a:rPr lang="en-US" sz="1800" dirty="0">
                <a:solidFill>
                  <a:srgbClr val="5A6068"/>
                </a:solidFill>
                <a:latin typeface="Cambria" pitchFamily="34" charset="0"/>
                <a:ea typeface="Cambria" pitchFamily="34" charset="-122"/>
                <a:cs typeface="Cambria" pitchFamily="34" charset="-120"/>
              </a:rPr>
              <a:t>que cuenta con la participación</a:t>
            </a:r>
            <a:endParaRPr lang="en-US" sz="1800" dirty="0"/>
          </a:p>
          <a:p>
            <a:pPr indent="0" marL="0">
              <a:spcAft>
                <a:spcPts val="400"/>
              </a:spcAft>
              <a:buNone/>
            </a:pPr>
            <a:r>
              <a:rPr lang="en-US" sz="1800" dirty="0">
                <a:solidFill>
                  <a:srgbClr val="5A6068"/>
                </a:solidFill>
                <a:latin typeface="Cambria" pitchFamily="34" charset="0"/>
                <a:ea typeface="Cambria" pitchFamily="34" charset="-122"/>
                <a:cs typeface="Cambria" pitchFamily="34" charset="-120"/>
              </a:rPr>
              <a:t>del Ayuntamiento  —  pero no le pertenece.</a:t>
            </a:r>
            <a:endParaRPr lang="en-US" sz="1800" dirty="0"/>
          </a:p>
        </p:txBody>
      </p:sp>
      <p:sp>
        <p:nvSpPr>
          <p:cNvPr id="9" name="Text 7"/>
          <p:cNvSpPr/>
          <p:nvPr/>
        </p:nvSpPr>
        <p:spPr>
          <a:xfrm>
            <a:off x="502920" y="3611880"/>
            <a:ext cx="3474720" cy="640080"/>
          </a:xfrm>
          <a:prstGeom prst="rect">
            <a:avLst/>
          </a:prstGeom>
          <a:noFill/>
          <a:ln/>
        </p:spPr>
        <p:txBody>
          <a:bodyPr wrap="square" lIns="0" tIns="0" rIns="0" bIns="0" rtlCol="0" anchor="t"/>
          <a:lstStyle/>
          <a:p>
            <a:pPr indent="0" marL="0">
              <a:buNone/>
            </a:pPr>
            <a:r>
              <a:rPr lang="en-US" sz="1100" i="1" dirty="0">
                <a:solidFill>
                  <a:srgbClr val="5A6068"/>
                </a:solidFill>
                <a:latin typeface="Calibri" pitchFamily="34" charset="0"/>
                <a:ea typeface="Calibri" pitchFamily="34" charset="-122"/>
                <a:cs typeface="Calibri" pitchFamily="34" charset="-120"/>
              </a:rPr>
              <a:t>El Ayuntamiento entra como un actor más — con más datos y más poder ejecutivo, sí, pero sin dueño editorial.</a:t>
            </a:r>
            <a:endParaRPr lang="en-US" sz="1100" dirty="0"/>
          </a:p>
        </p:txBody>
      </p:sp>
      <p:sp>
        <p:nvSpPr>
          <p:cNvPr id="10" name="Shape 8"/>
          <p:cNvSpPr/>
          <p:nvPr/>
        </p:nvSpPr>
        <p:spPr>
          <a:xfrm>
            <a:off x="4434840" y="1828800"/>
            <a:ext cx="4343400" cy="868680"/>
          </a:xfrm>
          <a:prstGeom prst="rect">
            <a:avLst/>
          </a:prstGeom>
          <a:solidFill>
            <a:srgbClr val="FFFFFF">
              <a:alpha val="65000"/>
            </a:srgbClr>
          </a:solidFill>
          <a:ln w="9525">
            <a:solidFill>
              <a:srgbClr val="5A7C9C"/>
            </a:solidFill>
            <a:prstDash val="solid"/>
          </a:ln>
        </p:spPr>
      </p:sp>
      <p:sp>
        <p:nvSpPr>
          <p:cNvPr id="11" name="Shape 9"/>
          <p:cNvSpPr/>
          <p:nvPr/>
        </p:nvSpPr>
        <p:spPr>
          <a:xfrm>
            <a:off x="4434840" y="1828800"/>
            <a:ext cx="54864" cy="868680"/>
          </a:xfrm>
          <a:prstGeom prst="rect">
            <a:avLst/>
          </a:prstGeom>
          <a:solidFill>
            <a:srgbClr val="5A7C9C"/>
          </a:solidFill>
          <a:ln w="12700">
            <a:solidFill>
              <a:srgbClr val="5A7C9C"/>
            </a:solidFill>
            <a:prstDash val="solid"/>
          </a:ln>
        </p:spPr>
      </p:sp>
      <p:sp>
        <p:nvSpPr>
          <p:cNvPr id="12" name="Text 10"/>
          <p:cNvSpPr/>
          <p:nvPr/>
        </p:nvSpPr>
        <p:spPr>
          <a:xfrm>
            <a:off x="4572000" y="1874520"/>
            <a:ext cx="4114800" cy="201168"/>
          </a:xfrm>
          <a:prstGeom prst="rect">
            <a:avLst/>
          </a:prstGeom>
          <a:noFill/>
          <a:ln/>
        </p:spPr>
        <p:txBody>
          <a:bodyPr wrap="square" lIns="0" tIns="0" rIns="0" bIns="0" rtlCol="0" anchor="ctr"/>
          <a:lstStyle/>
          <a:p>
            <a:pPr indent="0" marL="0">
              <a:buNone/>
            </a:pPr>
            <a:r>
              <a:rPr lang="en-US" sz="900" b="1" spc="400" kern="0" dirty="0">
                <a:solidFill>
                  <a:srgbClr val="5A7C9C"/>
                </a:solidFill>
                <a:latin typeface="Calibri" pitchFamily="34" charset="0"/>
                <a:ea typeface="Calibri" pitchFamily="34" charset="-122"/>
                <a:cs typeface="Calibri" pitchFamily="34" charset="-120"/>
              </a:rPr>
              <a:t>01.  SIN MARCAS</a:t>
            </a:r>
            <a:endParaRPr lang="en-US" sz="900" dirty="0"/>
          </a:p>
        </p:txBody>
      </p:sp>
      <p:sp>
        <p:nvSpPr>
          <p:cNvPr id="13" name="Text 11"/>
          <p:cNvSpPr/>
          <p:nvPr/>
        </p:nvSpPr>
        <p:spPr>
          <a:xfrm>
            <a:off x="4572000" y="2057400"/>
            <a:ext cx="4114800" cy="256032"/>
          </a:xfrm>
          <a:prstGeom prst="rect">
            <a:avLst/>
          </a:prstGeom>
          <a:noFill/>
          <a:ln/>
        </p:spPr>
        <p:txBody>
          <a:bodyPr wrap="square" lIns="0" tIns="0" rIns="0" bIns="0" rtlCol="0" anchor="ctr"/>
          <a:lstStyle/>
          <a:p>
            <a:pPr indent="0" marL="0">
              <a:buNone/>
            </a:pPr>
            <a:r>
              <a:rPr lang="en-US" sz="1400" b="1" dirty="0">
                <a:solidFill>
                  <a:srgbClr val="3D4248"/>
                </a:solidFill>
                <a:latin typeface="Cambria" pitchFamily="34" charset="0"/>
                <a:ea typeface="Cambria" pitchFamily="34" charset="-122"/>
                <a:cs typeface="Cambria" pitchFamily="34" charset="-120"/>
              </a:rPr>
              <a:t>No vincular logos</a:t>
            </a:r>
            <a:endParaRPr lang="en-US" sz="1400" dirty="0"/>
          </a:p>
        </p:txBody>
      </p:sp>
      <p:sp>
        <p:nvSpPr>
          <p:cNvPr id="14" name="Text 12"/>
          <p:cNvSpPr/>
          <p:nvPr/>
        </p:nvSpPr>
        <p:spPr>
          <a:xfrm>
            <a:off x="4572000" y="2304288"/>
            <a:ext cx="4160520" cy="365760"/>
          </a:xfrm>
          <a:prstGeom prst="rect">
            <a:avLst/>
          </a:prstGeom>
          <a:noFill/>
          <a:ln/>
        </p:spPr>
        <p:txBody>
          <a:bodyPr wrap="square" lIns="0" tIns="0" rIns="0" bIns="0" rtlCol="0" anchor="t"/>
          <a:lstStyle/>
          <a:p>
            <a:pPr indent="0" marL="0">
              <a:buNone/>
            </a:pPr>
            <a:r>
              <a:rPr lang="en-US" sz="950" dirty="0">
                <a:solidFill>
                  <a:srgbClr val="5A6068"/>
                </a:solidFill>
                <a:latin typeface="Calibri" pitchFamily="34" charset="0"/>
                <a:ea typeface="Calibri" pitchFamily="34" charset="-122"/>
                <a:cs typeface="Calibri" pitchFamily="34" charset="-120"/>
              </a:rPr>
              <a:t>Si fracasa, no salpica al Ayuntamiento. Si triunfa, no es propaganda. La distancia institucional protege a las dos partes.</a:t>
            </a:r>
            <a:endParaRPr lang="en-US" sz="950" dirty="0"/>
          </a:p>
        </p:txBody>
      </p:sp>
      <p:sp>
        <p:nvSpPr>
          <p:cNvPr id="15" name="Shape 13"/>
          <p:cNvSpPr/>
          <p:nvPr/>
        </p:nvSpPr>
        <p:spPr>
          <a:xfrm>
            <a:off x="4434840" y="2788920"/>
            <a:ext cx="4343400" cy="868680"/>
          </a:xfrm>
          <a:prstGeom prst="rect">
            <a:avLst/>
          </a:prstGeom>
          <a:solidFill>
            <a:srgbClr val="FFFFFF">
              <a:alpha val="65000"/>
            </a:srgbClr>
          </a:solidFill>
          <a:ln w="9525">
            <a:solidFill>
              <a:srgbClr val="845FA8"/>
            </a:solidFill>
            <a:prstDash val="solid"/>
          </a:ln>
        </p:spPr>
      </p:sp>
      <p:sp>
        <p:nvSpPr>
          <p:cNvPr id="16" name="Shape 14"/>
          <p:cNvSpPr/>
          <p:nvPr/>
        </p:nvSpPr>
        <p:spPr>
          <a:xfrm>
            <a:off x="4434840" y="2788920"/>
            <a:ext cx="54864" cy="868680"/>
          </a:xfrm>
          <a:prstGeom prst="rect">
            <a:avLst/>
          </a:prstGeom>
          <a:solidFill>
            <a:srgbClr val="845FA8"/>
          </a:solidFill>
          <a:ln w="12700">
            <a:solidFill>
              <a:srgbClr val="845FA8"/>
            </a:solidFill>
            <a:prstDash val="solid"/>
          </a:ln>
        </p:spPr>
      </p:sp>
      <p:sp>
        <p:nvSpPr>
          <p:cNvPr id="17" name="Text 15"/>
          <p:cNvSpPr/>
          <p:nvPr/>
        </p:nvSpPr>
        <p:spPr>
          <a:xfrm>
            <a:off x="4572000" y="2834640"/>
            <a:ext cx="4114800" cy="201168"/>
          </a:xfrm>
          <a:prstGeom prst="rect">
            <a:avLst/>
          </a:prstGeom>
          <a:noFill/>
          <a:ln/>
        </p:spPr>
        <p:txBody>
          <a:bodyPr wrap="square" lIns="0" tIns="0" rIns="0" bIns="0" rtlCol="0" anchor="ctr"/>
          <a:lstStyle/>
          <a:p>
            <a:pPr indent="0" marL="0">
              <a:buNone/>
            </a:pPr>
            <a:r>
              <a:rPr lang="en-US" sz="900" b="1" spc="400" kern="0" dirty="0">
                <a:solidFill>
                  <a:srgbClr val="845FA8"/>
                </a:solidFill>
                <a:latin typeface="Calibri" pitchFamily="34" charset="0"/>
                <a:ea typeface="Calibri" pitchFamily="34" charset="-122"/>
                <a:cs typeface="Calibri" pitchFamily="34" charset="-120"/>
              </a:rPr>
              <a:t>02.  FRESCURA DE RED</a:t>
            </a:r>
            <a:endParaRPr lang="en-US" sz="900" dirty="0"/>
          </a:p>
        </p:txBody>
      </p:sp>
      <p:sp>
        <p:nvSpPr>
          <p:cNvPr id="18" name="Text 16"/>
          <p:cNvSpPr/>
          <p:nvPr/>
        </p:nvSpPr>
        <p:spPr>
          <a:xfrm>
            <a:off x="4572000" y="3017520"/>
            <a:ext cx="4114800" cy="256032"/>
          </a:xfrm>
          <a:prstGeom prst="rect">
            <a:avLst/>
          </a:prstGeom>
          <a:noFill/>
          <a:ln/>
        </p:spPr>
        <p:txBody>
          <a:bodyPr wrap="square" lIns="0" tIns="0" rIns="0" bIns="0" rtlCol="0" anchor="ctr"/>
          <a:lstStyle/>
          <a:p>
            <a:pPr indent="0" marL="0">
              <a:buNone/>
            </a:pPr>
            <a:r>
              <a:rPr lang="en-US" sz="1400" b="1" dirty="0">
                <a:solidFill>
                  <a:srgbClr val="3D4248"/>
                </a:solidFill>
                <a:latin typeface="Cambria" pitchFamily="34" charset="0"/>
                <a:ea typeface="Cambria" pitchFamily="34" charset="-122"/>
                <a:cs typeface="Cambria" pitchFamily="34" charset="-120"/>
              </a:rPr>
              <a:t>Lenguaje no institucional</a:t>
            </a:r>
            <a:endParaRPr lang="en-US" sz="1400" dirty="0"/>
          </a:p>
        </p:txBody>
      </p:sp>
      <p:sp>
        <p:nvSpPr>
          <p:cNvPr id="19" name="Text 17"/>
          <p:cNvSpPr/>
          <p:nvPr/>
        </p:nvSpPr>
        <p:spPr>
          <a:xfrm>
            <a:off x="4572000" y="3264408"/>
            <a:ext cx="4160520" cy="365760"/>
          </a:xfrm>
          <a:prstGeom prst="rect">
            <a:avLst/>
          </a:prstGeom>
          <a:noFill/>
          <a:ln/>
        </p:spPr>
        <p:txBody>
          <a:bodyPr wrap="square" lIns="0" tIns="0" rIns="0" bIns="0" rtlCol="0" anchor="t"/>
          <a:lstStyle/>
          <a:p>
            <a:pPr indent="0" marL="0">
              <a:buNone/>
            </a:pPr>
            <a:r>
              <a:rPr lang="en-US" sz="950" dirty="0">
                <a:solidFill>
                  <a:srgbClr val="5A6068"/>
                </a:solidFill>
                <a:latin typeface="Calibri" pitchFamily="34" charset="0"/>
                <a:ea typeface="Calibri" pitchFamily="34" charset="-122"/>
                <a:cs typeface="Calibri" pitchFamily="34" charset="-120"/>
              </a:rPr>
              <a:t>Ritmo de producto, no de pleno. Copys cercanos, micro-mecánicas, A/B testing. Las cosas que las redes hacen bien se pueden hacer con bien común.</a:t>
            </a:r>
            <a:endParaRPr lang="en-US" sz="950" dirty="0"/>
          </a:p>
        </p:txBody>
      </p:sp>
      <p:sp>
        <p:nvSpPr>
          <p:cNvPr id="20" name="Shape 18"/>
          <p:cNvSpPr/>
          <p:nvPr/>
        </p:nvSpPr>
        <p:spPr>
          <a:xfrm>
            <a:off x="4434840" y="3749040"/>
            <a:ext cx="4343400" cy="868680"/>
          </a:xfrm>
          <a:prstGeom prst="rect">
            <a:avLst/>
          </a:prstGeom>
          <a:solidFill>
            <a:srgbClr val="FFFFFF">
              <a:alpha val="65000"/>
            </a:srgbClr>
          </a:solidFill>
          <a:ln w="9525">
            <a:solidFill>
              <a:srgbClr val="5F9169"/>
            </a:solidFill>
            <a:prstDash val="solid"/>
          </a:ln>
        </p:spPr>
      </p:sp>
      <p:sp>
        <p:nvSpPr>
          <p:cNvPr id="21" name="Shape 19"/>
          <p:cNvSpPr/>
          <p:nvPr/>
        </p:nvSpPr>
        <p:spPr>
          <a:xfrm>
            <a:off x="4434840" y="3749040"/>
            <a:ext cx="54864" cy="868680"/>
          </a:xfrm>
          <a:prstGeom prst="rect">
            <a:avLst/>
          </a:prstGeom>
          <a:solidFill>
            <a:srgbClr val="5F9169"/>
          </a:solidFill>
          <a:ln w="12700">
            <a:solidFill>
              <a:srgbClr val="5F9169"/>
            </a:solidFill>
            <a:prstDash val="solid"/>
          </a:ln>
        </p:spPr>
      </p:sp>
      <p:sp>
        <p:nvSpPr>
          <p:cNvPr id="22" name="Text 20"/>
          <p:cNvSpPr/>
          <p:nvPr/>
        </p:nvSpPr>
        <p:spPr>
          <a:xfrm>
            <a:off x="4572000" y="3794760"/>
            <a:ext cx="4114800" cy="201168"/>
          </a:xfrm>
          <a:prstGeom prst="rect">
            <a:avLst/>
          </a:prstGeom>
          <a:noFill/>
          <a:ln/>
        </p:spPr>
        <p:txBody>
          <a:bodyPr wrap="square" lIns="0" tIns="0" rIns="0" bIns="0" rtlCol="0" anchor="ctr"/>
          <a:lstStyle/>
          <a:p>
            <a:pPr indent="0" marL="0">
              <a:buNone/>
            </a:pPr>
            <a:r>
              <a:rPr lang="en-US" sz="900" b="1" spc="400" kern="0" dirty="0">
                <a:solidFill>
                  <a:srgbClr val="5F9169"/>
                </a:solidFill>
                <a:latin typeface="Calibri" pitchFamily="34" charset="0"/>
                <a:ea typeface="Calibri" pitchFamily="34" charset="-122"/>
                <a:cs typeface="Calibri" pitchFamily="34" charset="-120"/>
              </a:rPr>
              <a:t>03.  CREDIBILIDAD CÍVICA</a:t>
            </a:r>
            <a:endParaRPr lang="en-US" sz="900" dirty="0"/>
          </a:p>
        </p:txBody>
      </p:sp>
      <p:sp>
        <p:nvSpPr>
          <p:cNvPr id="23" name="Text 21"/>
          <p:cNvSpPr/>
          <p:nvPr/>
        </p:nvSpPr>
        <p:spPr>
          <a:xfrm>
            <a:off x="4572000" y="3977640"/>
            <a:ext cx="4114800" cy="256032"/>
          </a:xfrm>
          <a:prstGeom prst="rect">
            <a:avLst/>
          </a:prstGeom>
          <a:noFill/>
          <a:ln/>
        </p:spPr>
        <p:txBody>
          <a:bodyPr wrap="square" lIns="0" tIns="0" rIns="0" bIns="0" rtlCol="0" anchor="ctr"/>
          <a:lstStyle/>
          <a:p>
            <a:pPr indent="0" marL="0">
              <a:buNone/>
            </a:pPr>
            <a:r>
              <a:rPr lang="en-US" sz="1400" b="1" dirty="0">
                <a:solidFill>
                  <a:srgbClr val="3D4248"/>
                </a:solidFill>
                <a:latin typeface="Cambria" pitchFamily="34" charset="0"/>
                <a:ea typeface="Cambria" pitchFamily="34" charset="-122"/>
                <a:cs typeface="Cambria" pitchFamily="34" charset="-120"/>
              </a:rPr>
              <a:t>Lo perciben como suyo</a:t>
            </a:r>
            <a:endParaRPr lang="en-US" sz="1400" dirty="0"/>
          </a:p>
        </p:txBody>
      </p:sp>
      <p:sp>
        <p:nvSpPr>
          <p:cNvPr id="24" name="Text 22"/>
          <p:cNvSpPr/>
          <p:nvPr/>
        </p:nvSpPr>
        <p:spPr>
          <a:xfrm>
            <a:off x="4572000" y="4224528"/>
            <a:ext cx="4160520" cy="365760"/>
          </a:xfrm>
          <a:prstGeom prst="rect">
            <a:avLst/>
          </a:prstGeom>
          <a:noFill/>
          <a:ln/>
        </p:spPr>
        <p:txBody>
          <a:bodyPr wrap="square" lIns="0" tIns="0" rIns="0" bIns="0" rtlCol="0" anchor="t"/>
          <a:lstStyle/>
          <a:p>
            <a:pPr indent="0" marL="0">
              <a:buNone/>
            </a:pPr>
            <a:r>
              <a:rPr lang="en-US" sz="950" dirty="0">
                <a:solidFill>
                  <a:srgbClr val="5A6068"/>
                </a:solidFill>
                <a:latin typeface="Calibri" pitchFamily="34" charset="0"/>
                <a:ea typeface="Calibri" pitchFamily="34" charset="-122"/>
                <a:cs typeface="Calibri" pitchFamily="34" charset="-120"/>
              </a:rPr>
              <a:t>Un vecino no quiere otra ventanilla. Quiere algo que se sienta autoorganizado. La autoría externa abre la puerta a esa percepción.</a:t>
            </a:r>
            <a:endParaRPr lang="en-US" sz="950" dirty="0"/>
          </a:p>
        </p:txBody>
      </p:sp>
      <p:sp>
        <p:nvSpPr>
          <p:cNvPr id="25" name="Text 23"/>
          <p:cNvSpPr/>
          <p:nvPr/>
        </p:nvSpPr>
        <p:spPr>
          <a:xfrm>
            <a:off x="365760" y="4846320"/>
            <a:ext cx="5486400" cy="228600"/>
          </a:xfrm>
          <a:prstGeom prst="rect">
            <a:avLst/>
          </a:prstGeom>
          <a:noFill/>
          <a:ln/>
        </p:spPr>
        <p:txBody>
          <a:bodyPr wrap="square" lIns="0" tIns="0" rIns="0" bIns="0" rtlCol="0" anchor="ctr"/>
          <a:lstStyle/>
          <a:p>
            <a:pPr indent="0" marL="0">
              <a:buNone/>
            </a:pPr>
            <a:r>
              <a:rPr lang="en-US" sz="900" dirty="0">
                <a:solidFill>
                  <a:srgbClr val="7B7E84"/>
                </a:solidFill>
                <a:latin typeface="Calibri" pitchFamily="34" charset="0"/>
                <a:ea typeface="Calibri" pitchFamily="34" charset="-122"/>
                <a:cs typeface="Calibri" pitchFamily="34" charset="-120"/>
              </a:rPr>
              <a:t>Redes cívicas gamificadas</a:t>
            </a:r>
            <a:pPr indent="0" marL="0">
              <a:buNone/>
            </a:pPr>
            <a:r>
              <a:rPr lang="en-US" sz="900" dirty="0">
                <a:solidFill>
                  <a:srgbClr val="7B7E84"/>
                </a:solidFill>
                <a:latin typeface="Calibri" pitchFamily="34" charset="0"/>
                <a:ea typeface="Calibri" pitchFamily="34" charset="-122"/>
                <a:cs typeface="Calibri" pitchFamily="34" charset="-120"/>
              </a:rPr>
              <a:t>   ·   </a:t>
            </a:r>
            <a:pPr indent="0" marL="0">
              <a:buNone/>
            </a:pPr>
            <a:r>
              <a:rPr lang="en-US" sz="900" dirty="0">
                <a:solidFill>
                  <a:srgbClr val="7B7E84"/>
                </a:solidFill>
                <a:latin typeface="Calibri" pitchFamily="34" charset="0"/>
                <a:ea typeface="Calibri" pitchFamily="34" charset="-122"/>
                <a:cs typeface="Calibri" pitchFamily="34" charset="-120"/>
              </a:rPr>
              <a:t>F. Rebollo Bautista</a:t>
            </a:r>
            <a:endParaRPr lang="en-US" sz="900" dirty="0"/>
          </a:p>
        </p:txBody>
      </p:sp>
      <p:sp>
        <p:nvSpPr>
          <p:cNvPr id="26" name="Text 24"/>
          <p:cNvSpPr/>
          <p:nvPr/>
        </p:nvSpPr>
        <p:spPr>
          <a:xfrm>
            <a:off x="7772400" y="4846320"/>
            <a:ext cx="1005840" cy="228600"/>
          </a:xfrm>
          <a:prstGeom prst="rect">
            <a:avLst/>
          </a:prstGeom>
          <a:noFill/>
          <a:ln/>
        </p:spPr>
        <p:txBody>
          <a:bodyPr wrap="square" lIns="0" tIns="0" rIns="0" bIns="0" rtlCol="0" anchor="ctr"/>
          <a:lstStyle/>
          <a:p>
            <a:pPr algn="r" indent="0" marL="0">
              <a:buNone/>
            </a:pPr>
            <a:r>
              <a:rPr lang="en-US" sz="900" dirty="0">
                <a:solidFill>
                  <a:srgbClr val="7B7E84"/>
                </a:solidFill>
                <a:latin typeface="Calibri" pitchFamily="34" charset="0"/>
                <a:ea typeface="Calibri" pitchFamily="34" charset="-122"/>
                <a:cs typeface="Calibri" pitchFamily="34" charset="-120"/>
              </a:rPr>
              <a:t>7 / 11</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365760" y="274320"/>
            <a:ext cx="36576" cy="292608"/>
          </a:xfrm>
          <a:prstGeom prst="rect">
            <a:avLst/>
          </a:prstGeom>
          <a:solidFill>
            <a:srgbClr val="B85042"/>
          </a:solidFill>
          <a:ln w="12700">
            <a:solidFill>
              <a:srgbClr val="B85042"/>
            </a:solidFill>
            <a:prstDash val="solid"/>
          </a:ln>
        </p:spPr>
      </p:sp>
      <p:sp>
        <p:nvSpPr>
          <p:cNvPr id="3" name="Text 1"/>
          <p:cNvSpPr/>
          <p:nvPr/>
        </p:nvSpPr>
        <p:spPr>
          <a:xfrm>
            <a:off x="475488" y="237744"/>
            <a:ext cx="548640" cy="365760"/>
          </a:xfrm>
          <a:prstGeom prst="rect">
            <a:avLst/>
          </a:prstGeom>
          <a:noFill/>
          <a:ln/>
        </p:spPr>
        <p:txBody>
          <a:bodyPr wrap="square" lIns="0" tIns="0" rIns="0" bIns="0" rtlCol="0" anchor="ctr"/>
          <a:lstStyle/>
          <a:p>
            <a:pPr algn="l" indent="0" marL="0">
              <a:buNone/>
            </a:pPr>
            <a:r>
              <a:rPr lang="en-US" sz="1600" i="1" dirty="0">
                <a:solidFill>
                  <a:srgbClr val="B85042"/>
                </a:solidFill>
                <a:latin typeface="Cambria" pitchFamily="34" charset="0"/>
                <a:ea typeface="Cambria" pitchFamily="34" charset="-122"/>
                <a:cs typeface="Cambria" pitchFamily="34" charset="-120"/>
              </a:rPr>
              <a:t>VII</a:t>
            </a:r>
            <a:endParaRPr lang="en-US" sz="1600" dirty="0"/>
          </a:p>
        </p:txBody>
      </p:sp>
      <p:sp>
        <p:nvSpPr>
          <p:cNvPr id="4" name="Text 2"/>
          <p:cNvSpPr/>
          <p:nvPr/>
        </p:nvSpPr>
        <p:spPr>
          <a:xfrm>
            <a:off x="365760" y="713232"/>
            <a:ext cx="8412480" cy="548640"/>
          </a:xfrm>
          <a:prstGeom prst="rect">
            <a:avLst/>
          </a:prstGeom>
          <a:noFill/>
          <a:ln/>
        </p:spPr>
        <p:txBody>
          <a:bodyPr wrap="square" lIns="0" tIns="0" rIns="0" bIns="0" rtlCol="0" anchor="ctr"/>
          <a:lstStyle/>
          <a:p>
            <a:pPr indent="0" marL="0">
              <a:buNone/>
            </a:pPr>
            <a:r>
              <a:rPr lang="en-US" sz="2400" dirty="0">
                <a:solidFill>
                  <a:srgbClr val="3D4248"/>
                </a:solidFill>
                <a:latin typeface="Cambria" pitchFamily="34" charset="0"/>
                <a:ea typeface="Cambria" pitchFamily="34" charset="-122"/>
                <a:cs typeface="Cambria" pitchFamily="34" charset="-120"/>
              </a:rPr>
              <a:t>Lo que ya está construido  ·  151.651 edificios renderizados</a:t>
            </a:r>
            <a:endParaRPr lang="en-US" sz="2400" dirty="0"/>
          </a:p>
        </p:txBody>
      </p:sp>
      <p:sp>
        <p:nvSpPr>
          <p:cNvPr id="5" name="Text 3"/>
          <p:cNvSpPr/>
          <p:nvPr/>
        </p:nvSpPr>
        <p:spPr>
          <a:xfrm>
            <a:off x="365760" y="1243584"/>
            <a:ext cx="8412480" cy="365760"/>
          </a:xfrm>
          <a:prstGeom prst="rect">
            <a:avLst/>
          </a:prstGeom>
          <a:noFill/>
          <a:ln/>
        </p:spPr>
        <p:txBody>
          <a:bodyPr wrap="square" lIns="0" tIns="0" rIns="0" bIns="0" rtlCol="0" anchor="ctr"/>
          <a:lstStyle/>
          <a:p>
            <a:pPr indent="0" marL="0">
              <a:buNone/>
            </a:pPr>
            <a:r>
              <a:rPr lang="en-US" sz="1200" i="1" dirty="0">
                <a:solidFill>
                  <a:srgbClr val="5A6068"/>
                </a:solidFill>
                <a:latin typeface="Calibri" pitchFamily="34" charset="0"/>
                <a:ea typeface="Calibri" pitchFamily="34" charset="-122"/>
                <a:cs typeface="Calibri" pitchFamily="34" charset="-120"/>
              </a:rPr>
              <a:t>Toda la provincia 35 (Gran Canaria + Lanzarote + Fuerteventura) en 3D · datos del Catastro INSPIRE y OSM Geofabrik</a:t>
            </a:r>
            <a:endParaRPr lang="en-US" sz="1200" dirty="0"/>
          </a:p>
        </p:txBody>
      </p:sp>
      <p:sp>
        <p:nvSpPr>
          <p:cNvPr id="6" name="Text 4"/>
          <p:cNvSpPr/>
          <p:nvPr/>
        </p:nvSpPr>
        <p:spPr>
          <a:xfrm>
            <a:off x="365760" y="1874520"/>
            <a:ext cx="3337560" cy="914400"/>
          </a:xfrm>
          <a:prstGeom prst="rect">
            <a:avLst/>
          </a:prstGeom>
          <a:noFill/>
          <a:ln/>
        </p:spPr>
        <p:txBody>
          <a:bodyPr wrap="square" lIns="0" tIns="0" rIns="0" bIns="0" rtlCol="0" anchor="t"/>
          <a:lstStyle/>
          <a:p>
            <a:pPr indent="0" marL="0">
              <a:buNone/>
            </a:pPr>
            <a:r>
              <a:rPr lang="en-US" sz="6000" b="1" dirty="0">
                <a:solidFill>
                  <a:srgbClr val="B85042"/>
                </a:solidFill>
                <a:latin typeface="Cambria" pitchFamily="34" charset="0"/>
                <a:ea typeface="Cambria" pitchFamily="34" charset="-122"/>
                <a:cs typeface="Cambria" pitchFamily="34" charset="-120"/>
              </a:rPr>
              <a:t>151.651</a:t>
            </a:r>
            <a:endParaRPr lang="en-US" sz="6000" dirty="0"/>
          </a:p>
        </p:txBody>
      </p:sp>
      <p:sp>
        <p:nvSpPr>
          <p:cNvPr id="7" name="Text 5"/>
          <p:cNvSpPr/>
          <p:nvPr/>
        </p:nvSpPr>
        <p:spPr>
          <a:xfrm>
            <a:off x="365760" y="2743200"/>
            <a:ext cx="3337560" cy="292608"/>
          </a:xfrm>
          <a:prstGeom prst="rect">
            <a:avLst/>
          </a:prstGeom>
          <a:noFill/>
          <a:ln/>
        </p:spPr>
        <p:txBody>
          <a:bodyPr wrap="square" lIns="0" tIns="0" rIns="0" bIns="0" rtlCol="0" anchor="ctr"/>
          <a:lstStyle/>
          <a:p>
            <a:pPr indent="0" marL="0">
              <a:buNone/>
            </a:pPr>
            <a:r>
              <a:rPr lang="en-US" sz="1400" b="1" dirty="0">
                <a:solidFill>
                  <a:srgbClr val="3D4248"/>
                </a:solidFill>
                <a:latin typeface="Calibri" pitchFamily="34" charset="0"/>
                <a:ea typeface="Calibri" pitchFamily="34" charset="-122"/>
                <a:cs typeface="Calibri" pitchFamily="34" charset="-120"/>
              </a:rPr>
              <a:t>edificios renderizados</a:t>
            </a:r>
            <a:endParaRPr lang="en-US" sz="1400" dirty="0"/>
          </a:p>
        </p:txBody>
      </p:sp>
      <p:sp>
        <p:nvSpPr>
          <p:cNvPr id="8" name="Text 6"/>
          <p:cNvSpPr/>
          <p:nvPr/>
        </p:nvSpPr>
        <p:spPr>
          <a:xfrm>
            <a:off x="365760" y="3063240"/>
            <a:ext cx="3337560" cy="777240"/>
          </a:xfrm>
          <a:prstGeom prst="rect">
            <a:avLst/>
          </a:prstGeom>
          <a:noFill/>
          <a:ln/>
        </p:spPr>
        <p:txBody>
          <a:bodyPr wrap="square" lIns="0" tIns="0" rIns="0" bIns="0" rtlCol="0" anchor="ctr"/>
          <a:lstStyle/>
          <a:p>
            <a:pPr indent="0" marL="0">
              <a:buNone/>
            </a:pPr>
            <a:r>
              <a:rPr lang="en-US" sz="1100" i="1" dirty="0">
                <a:solidFill>
                  <a:srgbClr val="5A6068"/>
                </a:solidFill>
                <a:latin typeface="Calibri" pitchFamily="34" charset="0"/>
                <a:ea typeface="Calibri" pitchFamily="34" charset="-122"/>
                <a:cs typeface="Calibri" pitchFamily="34" charset="-120"/>
              </a:rPr>
              <a:t>en 3 islas, 34 municipios y 690 secciones censales (97% de cobertura sobre las 709 totales del INE).</a:t>
            </a:r>
            <a:endParaRPr lang="en-US" sz="1100" dirty="0"/>
          </a:p>
        </p:txBody>
      </p:sp>
      <p:pic>
        <p:nvPicPr>
          <p:cNvPr id="9" name="Image 0" descr="assets/canarias_edif_chart.png">    </p:cNvPr>
          <p:cNvPicPr>
            <a:picLocks noChangeAspect="1"/>
          </p:cNvPicPr>
          <p:nvPr/>
        </p:nvPicPr>
        <p:blipFill>
          <a:blip r:embed="rId2"/>
          <a:stretch>
            <a:fillRect/>
          </a:stretch>
        </p:blipFill>
        <p:spPr>
          <a:xfrm>
            <a:off x="3703320" y="1737360"/>
            <a:ext cx="5074920" cy="2240280"/>
          </a:xfrm>
          <a:prstGeom prst="rect">
            <a:avLst/>
          </a:prstGeom>
        </p:spPr>
      </p:pic>
      <p:sp>
        <p:nvSpPr>
          <p:cNvPr id="10" name="Text 7"/>
          <p:cNvSpPr/>
          <p:nvPr/>
        </p:nvSpPr>
        <p:spPr>
          <a:xfrm>
            <a:off x="3703320" y="3977640"/>
            <a:ext cx="5074920" cy="274320"/>
          </a:xfrm>
          <a:prstGeom prst="rect">
            <a:avLst/>
          </a:prstGeom>
          <a:noFill/>
          <a:ln/>
        </p:spPr>
        <p:txBody>
          <a:bodyPr wrap="square" lIns="0" tIns="0" rIns="0" bIns="0" rtlCol="0" anchor="ctr"/>
          <a:lstStyle/>
          <a:p>
            <a:pPr algn="l" indent="0" marL="0">
              <a:buNone/>
            </a:pPr>
            <a:r>
              <a:rPr lang="en-US" sz="1000" i="1" dirty="0">
                <a:solidFill>
                  <a:srgbClr val="7B7E84"/>
                </a:solidFill>
                <a:latin typeface="Calibri" pitchFamily="34" charset="0"/>
                <a:ea typeface="Calibri" pitchFamily="34" charset="-122"/>
                <a:cs typeface="Calibri" pitchFamily="34" charset="-120"/>
              </a:rPr>
              <a:t>Edificios por isla  ·  cobertura por secciones censales</a:t>
            </a:r>
            <a:endParaRPr lang="en-US" sz="1000" dirty="0"/>
          </a:p>
        </p:txBody>
      </p:sp>
      <p:sp>
        <p:nvSpPr>
          <p:cNvPr id="11" name="Shape 8"/>
          <p:cNvSpPr/>
          <p:nvPr/>
        </p:nvSpPr>
        <p:spPr>
          <a:xfrm>
            <a:off x="365760" y="4297680"/>
            <a:ext cx="36576" cy="502920"/>
          </a:xfrm>
          <a:prstGeom prst="rect">
            <a:avLst/>
          </a:prstGeom>
          <a:solidFill>
            <a:srgbClr val="B85042"/>
          </a:solidFill>
          <a:ln w="12700">
            <a:solidFill>
              <a:srgbClr val="B85042"/>
            </a:solidFill>
            <a:prstDash val="solid"/>
          </a:ln>
        </p:spPr>
      </p:sp>
      <p:sp>
        <p:nvSpPr>
          <p:cNvPr id="12" name="Text 9"/>
          <p:cNvSpPr/>
          <p:nvPr/>
        </p:nvSpPr>
        <p:spPr>
          <a:xfrm>
            <a:off x="457200" y="4279392"/>
            <a:ext cx="2743200" cy="201168"/>
          </a:xfrm>
          <a:prstGeom prst="rect">
            <a:avLst/>
          </a:prstGeom>
          <a:noFill/>
          <a:ln/>
        </p:spPr>
        <p:txBody>
          <a:bodyPr wrap="square" lIns="0" tIns="0" rIns="0" bIns="0" rtlCol="0" anchor="ctr"/>
          <a:lstStyle/>
          <a:p>
            <a:pPr indent="0" marL="0">
              <a:buNone/>
            </a:pPr>
            <a:r>
              <a:rPr lang="en-US" sz="800" b="1" spc="400" kern="0" dirty="0">
                <a:solidFill>
                  <a:srgbClr val="B85042"/>
                </a:solidFill>
                <a:latin typeface="Calibri" pitchFamily="34" charset="0"/>
                <a:ea typeface="Calibri" pitchFamily="34" charset="-122"/>
                <a:cs typeface="Calibri" pitchFamily="34" charset="-120"/>
              </a:rPr>
              <a:t>MUNICIPIO LÍDER</a:t>
            </a:r>
            <a:endParaRPr lang="en-US" sz="800" dirty="0"/>
          </a:p>
        </p:txBody>
      </p:sp>
      <p:sp>
        <p:nvSpPr>
          <p:cNvPr id="13" name="Text 10"/>
          <p:cNvSpPr/>
          <p:nvPr/>
        </p:nvSpPr>
        <p:spPr>
          <a:xfrm>
            <a:off x="457200" y="4462272"/>
            <a:ext cx="2743200" cy="256032"/>
          </a:xfrm>
          <a:prstGeom prst="rect">
            <a:avLst/>
          </a:prstGeom>
          <a:noFill/>
          <a:ln/>
        </p:spPr>
        <p:txBody>
          <a:bodyPr wrap="square" lIns="0" tIns="0" rIns="0" bIns="0" rtlCol="0" anchor="t"/>
          <a:lstStyle/>
          <a:p>
            <a:pPr indent="0" marL="0">
              <a:buNone/>
            </a:pPr>
            <a:r>
              <a:rPr lang="en-US" sz="1800" b="1" dirty="0">
                <a:solidFill>
                  <a:srgbClr val="3D4248"/>
                </a:solidFill>
                <a:latin typeface="Cambria" pitchFamily="34" charset="0"/>
                <a:ea typeface="Cambria" pitchFamily="34" charset="-122"/>
                <a:cs typeface="Cambria" pitchFamily="34" charset="-120"/>
              </a:rPr>
              <a:t>45.687</a:t>
            </a:r>
            <a:pPr indent="0" marL="0">
              <a:buNone/>
            </a:pPr>
            <a:r>
              <a:rPr lang="en-US" sz="1100" dirty="0">
                <a:solidFill>
                  <a:srgbClr val="5A6068"/>
                </a:solidFill>
                <a:latin typeface="Calibri" pitchFamily="34" charset="0"/>
                <a:ea typeface="Calibri" pitchFamily="34" charset="-122"/>
                <a:cs typeface="Calibri" pitchFamily="34" charset="-120"/>
              </a:rPr>
              <a:t>  edificios en LPGC</a:t>
            </a:r>
            <a:endParaRPr lang="en-US" sz="1800" dirty="0"/>
          </a:p>
        </p:txBody>
      </p:sp>
      <p:sp>
        <p:nvSpPr>
          <p:cNvPr id="14" name="Text 11"/>
          <p:cNvSpPr/>
          <p:nvPr/>
        </p:nvSpPr>
        <p:spPr>
          <a:xfrm>
            <a:off x="457200" y="4681728"/>
            <a:ext cx="2743200" cy="164592"/>
          </a:xfrm>
          <a:prstGeom prst="rect">
            <a:avLst/>
          </a:prstGeom>
          <a:noFill/>
          <a:ln/>
        </p:spPr>
        <p:txBody>
          <a:bodyPr wrap="square" lIns="0" tIns="0" rIns="0" bIns="0" rtlCol="0" anchor="ctr"/>
          <a:lstStyle/>
          <a:p>
            <a:pPr indent="0" marL="0">
              <a:buNone/>
            </a:pPr>
            <a:r>
              <a:rPr lang="en-US" sz="900" i="1" dirty="0">
                <a:solidFill>
                  <a:srgbClr val="7B7E84"/>
                </a:solidFill>
                <a:latin typeface="Calibri" pitchFamily="34" charset="0"/>
                <a:ea typeface="Calibri" pitchFamily="34" charset="-122"/>
                <a:cs typeface="Calibri" pitchFamily="34" charset="-120"/>
              </a:rPr>
              <a:t>274 secciones · Catastro INSPIRE</a:t>
            </a:r>
            <a:endParaRPr lang="en-US" sz="900" dirty="0"/>
          </a:p>
        </p:txBody>
      </p:sp>
      <p:sp>
        <p:nvSpPr>
          <p:cNvPr id="15" name="Shape 12"/>
          <p:cNvSpPr/>
          <p:nvPr/>
        </p:nvSpPr>
        <p:spPr>
          <a:xfrm>
            <a:off x="3200400" y="4297680"/>
            <a:ext cx="36576" cy="502920"/>
          </a:xfrm>
          <a:prstGeom prst="rect">
            <a:avLst/>
          </a:prstGeom>
          <a:solidFill>
            <a:srgbClr val="BC9046"/>
          </a:solidFill>
          <a:ln w="12700">
            <a:solidFill>
              <a:srgbClr val="BC9046"/>
            </a:solidFill>
            <a:prstDash val="solid"/>
          </a:ln>
        </p:spPr>
      </p:sp>
      <p:sp>
        <p:nvSpPr>
          <p:cNvPr id="16" name="Text 13"/>
          <p:cNvSpPr/>
          <p:nvPr/>
        </p:nvSpPr>
        <p:spPr>
          <a:xfrm>
            <a:off x="3291840" y="4279392"/>
            <a:ext cx="2743200" cy="201168"/>
          </a:xfrm>
          <a:prstGeom prst="rect">
            <a:avLst/>
          </a:prstGeom>
          <a:noFill/>
          <a:ln/>
        </p:spPr>
        <p:txBody>
          <a:bodyPr wrap="square" lIns="0" tIns="0" rIns="0" bIns="0" rtlCol="0" anchor="ctr"/>
          <a:lstStyle/>
          <a:p>
            <a:pPr indent="0" marL="0">
              <a:buNone/>
            </a:pPr>
            <a:r>
              <a:rPr lang="en-US" sz="800" b="1" spc="400" kern="0" dirty="0">
                <a:solidFill>
                  <a:srgbClr val="BC9046"/>
                </a:solidFill>
                <a:latin typeface="Calibri" pitchFamily="34" charset="0"/>
                <a:ea typeface="Calibri" pitchFamily="34" charset="-122"/>
                <a:cs typeface="Calibri" pitchFamily="34" charset="-120"/>
              </a:rPr>
              <a:t>SEGUNDO</a:t>
            </a:r>
            <a:endParaRPr lang="en-US" sz="800" dirty="0"/>
          </a:p>
        </p:txBody>
      </p:sp>
      <p:sp>
        <p:nvSpPr>
          <p:cNvPr id="17" name="Text 14"/>
          <p:cNvSpPr/>
          <p:nvPr/>
        </p:nvSpPr>
        <p:spPr>
          <a:xfrm>
            <a:off x="3291840" y="4462272"/>
            <a:ext cx="2743200" cy="256032"/>
          </a:xfrm>
          <a:prstGeom prst="rect">
            <a:avLst/>
          </a:prstGeom>
          <a:noFill/>
          <a:ln/>
        </p:spPr>
        <p:txBody>
          <a:bodyPr wrap="square" lIns="0" tIns="0" rIns="0" bIns="0" rtlCol="0" anchor="t"/>
          <a:lstStyle/>
          <a:p>
            <a:pPr indent="0" marL="0">
              <a:buNone/>
            </a:pPr>
            <a:r>
              <a:rPr lang="en-US" sz="1800" b="1" dirty="0">
                <a:solidFill>
                  <a:srgbClr val="3D4248"/>
                </a:solidFill>
                <a:latin typeface="Cambria" pitchFamily="34" charset="0"/>
                <a:ea typeface="Cambria" pitchFamily="34" charset="-122"/>
                <a:cs typeface="Cambria" pitchFamily="34" charset="-120"/>
              </a:rPr>
              <a:t>22.485</a:t>
            </a:r>
            <a:pPr indent="0" marL="0">
              <a:buNone/>
            </a:pPr>
            <a:r>
              <a:rPr lang="en-US" sz="1100" dirty="0">
                <a:solidFill>
                  <a:srgbClr val="5A6068"/>
                </a:solidFill>
                <a:latin typeface="Calibri" pitchFamily="34" charset="0"/>
                <a:ea typeface="Calibri" pitchFamily="34" charset="-122"/>
                <a:cs typeface="Calibri" pitchFamily="34" charset="-120"/>
              </a:rPr>
              <a:t>  edificios en SBT</a:t>
            </a:r>
            <a:endParaRPr lang="en-US" sz="1800" dirty="0"/>
          </a:p>
        </p:txBody>
      </p:sp>
      <p:sp>
        <p:nvSpPr>
          <p:cNvPr id="18" name="Text 15"/>
          <p:cNvSpPr/>
          <p:nvPr/>
        </p:nvSpPr>
        <p:spPr>
          <a:xfrm>
            <a:off x="3291840" y="4681728"/>
            <a:ext cx="2743200" cy="164592"/>
          </a:xfrm>
          <a:prstGeom prst="rect">
            <a:avLst/>
          </a:prstGeom>
          <a:noFill/>
          <a:ln/>
        </p:spPr>
        <p:txBody>
          <a:bodyPr wrap="square" lIns="0" tIns="0" rIns="0" bIns="0" rtlCol="0" anchor="ctr"/>
          <a:lstStyle/>
          <a:p>
            <a:pPr indent="0" marL="0">
              <a:buNone/>
            </a:pPr>
            <a:r>
              <a:rPr lang="en-US" sz="900" i="1" dirty="0">
                <a:solidFill>
                  <a:srgbClr val="7B7E84"/>
                </a:solidFill>
                <a:latin typeface="Calibri" pitchFamily="34" charset="0"/>
                <a:ea typeface="Calibri" pitchFamily="34" charset="-122"/>
                <a:cs typeface="Calibri" pitchFamily="34" charset="-120"/>
              </a:rPr>
              <a:t>San Bartolomé de Tirajana · 28 sec.</a:t>
            </a:r>
            <a:endParaRPr lang="en-US" sz="900" dirty="0"/>
          </a:p>
        </p:txBody>
      </p:sp>
      <p:sp>
        <p:nvSpPr>
          <p:cNvPr id="19" name="Shape 16"/>
          <p:cNvSpPr/>
          <p:nvPr/>
        </p:nvSpPr>
        <p:spPr>
          <a:xfrm>
            <a:off x="6035040" y="4297680"/>
            <a:ext cx="36576" cy="502920"/>
          </a:xfrm>
          <a:prstGeom prst="rect">
            <a:avLst/>
          </a:prstGeom>
          <a:solidFill>
            <a:srgbClr val="5F9169"/>
          </a:solidFill>
          <a:ln w="12700">
            <a:solidFill>
              <a:srgbClr val="5F9169"/>
            </a:solidFill>
            <a:prstDash val="solid"/>
          </a:ln>
        </p:spPr>
      </p:sp>
      <p:sp>
        <p:nvSpPr>
          <p:cNvPr id="20" name="Text 17"/>
          <p:cNvSpPr/>
          <p:nvPr/>
        </p:nvSpPr>
        <p:spPr>
          <a:xfrm>
            <a:off x="6126480" y="4279392"/>
            <a:ext cx="2743200" cy="201168"/>
          </a:xfrm>
          <a:prstGeom prst="rect">
            <a:avLst/>
          </a:prstGeom>
          <a:noFill/>
          <a:ln/>
        </p:spPr>
        <p:txBody>
          <a:bodyPr wrap="square" lIns="0" tIns="0" rIns="0" bIns="0" rtlCol="0" anchor="ctr"/>
          <a:lstStyle/>
          <a:p>
            <a:pPr indent="0" marL="0">
              <a:buNone/>
            </a:pPr>
            <a:r>
              <a:rPr lang="en-US" sz="800" b="1" spc="400" kern="0" dirty="0">
                <a:solidFill>
                  <a:srgbClr val="5F9169"/>
                </a:solidFill>
                <a:latin typeface="Calibri" pitchFamily="34" charset="0"/>
                <a:ea typeface="Calibri" pitchFamily="34" charset="-122"/>
                <a:cs typeface="Calibri" pitchFamily="34" charset="-120"/>
              </a:rPr>
              <a:t>DATOS DEL VISOR</a:t>
            </a:r>
            <a:endParaRPr lang="en-US" sz="800" dirty="0"/>
          </a:p>
        </p:txBody>
      </p:sp>
      <p:sp>
        <p:nvSpPr>
          <p:cNvPr id="21" name="Text 18"/>
          <p:cNvSpPr/>
          <p:nvPr/>
        </p:nvSpPr>
        <p:spPr>
          <a:xfrm>
            <a:off x="6126480" y="4462272"/>
            <a:ext cx="2743200" cy="256032"/>
          </a:xfrm>
          <a:prstGeom prst="rect">
            <a:avLst/>
          </a:prstGeom>
          <a:noFill/>
          <a:ln/>
        </p:spPr>
        <p:txBody>
          <a:bodyPr wrap="square" lIns="0" tIns="0" rIns="0" bIns="0" rtlCol="0" anchor="t"/>
          <a:lstStyle/>
          <a:p>
            <a:pPr indent="0" marL="0">
              <a:buNone/>
            </a:pPr>
            <a:r>
              <a:rPr lang="en-US" sz="1800" b="1" dirty="0">
                <a:solidFill>
                  <a:srgbClr val="3D4248"/>
                </a:solidFill>
                <a:latin typeface="Cambria" pitchFamily="34" charset="0"/>
                <a:ea typeface="Cambria" pitchFamily="34" charset="-122"/>
                <a:cs typeface="Cambria" pitchFamily="34" charset="-120"/>
              </a:rPr>
              <a:t>97%</a:t>
            </a:r>
            <a:pPr indent="0" marL="0">
              <a:buNone/>
            </a:pPr>
            <a:r>
              <a:rPr lang="en-US" sz="1100" dirty="0">
                <a:solidFill>
                  <a:srgbClr val="5A6068"/>
                </a:solidFill>
                <a:latin typeface="Calibri" pitchFamily="34" charset="0"/>
                <a:ea typeface="Calibri" pitchFamily="34" charset="-122"/>
                <a:cs typeface="Calibri" pitchFamily="34" charset="-120"/>
              </a:rPr>
              <a:t>  cobertura provincial</a:t>
            </a:r>
            <a:endParaRPr lang="en-US" sz="1800" dirty="0"/>
          </a:p>
        </p:txBody>
      </p:sp>
      <p:sp>
        <p:nvSpPr>
          <p:cNvPr id="22" name="Text 19"/>
          <p:cNvSpPr/>
          <p:nvPr/>
        </p:nvSpPr>
        <p:spPr>
          <a:xfrm>
            <a:off x="6126480" y="4681728"/>
            <a:ext cx="2743200" cy="164592"/>
          </a:xfrm>
          <a:prstGeom prst="rect">
            <a:avLst/>
          </a:prstGeom>
          <a:noFill/>
          <a:ln/>
        </p:spPr>
        <p:txBody>
          <a:bodyPr wrap="square" lIns="0" tIns="0" rIns="0" bIns="0" rtlCol="0" anchor="ctr"/>
          <a:lstStyle/>
          <a:p>
            <a:pPr indent="0" marL="0">
              <a:buNone/>
            </a:pPr>
            <a:r>
              <a:rPr lang="en-US" sz="900" i="1" dirty="0">
                <a:solidFill>
                  <a:srgbClr val="7B7E84"/>
                </a:solidFill>
                <a:latin typeface="Calibri" pitchFamily="34" charset="0"/>
                <a:ea typeface="Calibri" pitchFamily="34" charset="-122"/>
                <a:cs typeface="Calibri" pitchFamily="34" charset="-120"/>
              </a:rPr>
              <a:t>690 / 709 secciones renderizadas</a:t>
            </a:r>
            <a:endParaRPr lang="en-US" sz="900" dirty="0"/>
          </a:p>
        </p:txBody>
      </p:sp>
      <p:sp>
        <p:nvSpPr>
          <p:cNvPr id="23" name="Text 20"/>
          <p:cNvSpPr/>
          <p:nvPr/>
        </p:nvSpPr>
        <p:spPr>
          <a:xfrm>
            <a:off x="365760" y="4846320"/>
            <a:ext cx="5486400" cy="228600"/>
          </a:xfrm>
          <a:prstGeom prst="rect">
            <a:avLst/>
          </a:prstGeom>
          <a:noFill/>
          <a:ln/>
        </p:spPr>
        <p:txBody>
          <a:bodyPr wrap="square" lIns="0" tIns="0" rIns="0" bIns="0" rtlCol="0" anchor="ctr"/>
          <a:lstStyle/>
          <a:p>
            <a:pPr indent="0" marL="0">
              <a:buNone/>
            </a:pPr>
            <a:r>
              <a:rPr lang="en-US" sz="900" dirty="0">
                <a:solidFill>
                  <a:srgbClr val="7B7E84"/>
                </a:solidFill>
                <a:latin typeface="Calibri" pitchFamily="34" charset="0"/>
                <a:ea typeface="Calibri" pitchFamily="34" charset="-122"/>
                <a:cs typeface="Calibri" pitchFamily="34" charset="-120"/>
              </a:rPr>
              <a:t>Redes cívicas gamificadas</a:t>
            </a:r>
            <a:pPr indent="0" marL="0">
              <a:buNone/>
            </a:pPr>
            <a:r>
              <a:rPr lang="en-US" sz="900" dirty="0">
                <a:solidFill>
                  <a:srgbClr val="7B7E84"/>
                </a:solidFill>
                <a:latin typeface="Calibri" pitchFamily="34" charset="0"/>
                <a:ea typeface="Calibri" pitchFamily="34" charset="-122"/>
                <a:cs typeface="Calibri" pitchFamily="34" charset="-120"/>
              </a:rPr>
              <a:t>   ·   </a:t>
            </a:r>
            <a:pPr indent="0" marL="0">
              <a:buNone/>
            </a:pPr>
            <a:r>
              <a:rPr lang="en-US" sz="900" dirty="0">
                <a:solidFill>
                  <a:srgbClr val="7B7E84"/>
                </a:solidFill>
                <a:latin typeface="Calibri" pitchFamily="34" charset="0"/>
                <a:ea typeface="Calibri" pitchFamily="34" charset="-122"/>
                <a:cs typeface="Calibri" pitchFamily="34" charset="-120"/>
              </a:rPr>
              <a:t>F. Rebollo Bautista</a:t>
            </a:r>
            <a:endParaRPr lang="en-US" sz="900" dirty="0"/>
          </a:p>
        </p:txBody>
      </p:sp>
      <p:sp>
        <p:nvSpPr>
          <p:cNvPr id="24" name="Text 21"/>
          <p:cNvSpPr/>
          <p:nvPr/>
        </p:nvSpPr>
        <p:spPr>
          <a:xfrm>
            <a:off x="7772400" y="4846320"/>
            <a:ext cx="1005840" cy="228600"/>
          </a:xfrm>
          <a:prstGeom prst="rect">
            <a:avLst/>
          </a:prstGeom>
          <a:noFill/>
          <a:ln/>
        </p:spPr>
        <p:txBody>
          <a:bodyPr wrap="square" lIns="0" tIns="0" rIns="0" bIns="0" rtlCol="0" anchor="ctr"/>
          <a:lstStyle/>
          <a:p>
            <a:pPr algn="r" indent="0" marL="0">
              <a:buNone/>
            </a:pPr>
            <a:r>
              <a:rPr lang="en-US" sz="900" dirty="0">
                <a:solidFill>
                  <a:srgbClr val="7B7E84"/>
                </a:solidFill>
                <a:latin typeface="Calibri" pitchFamily="34" charset="0"/>
                <a:ea typeface="Calibri" pitchFamily="34" charset="-122"/>
                <a:cs typeface="Calibri" pitchFamily="34" charset="-120"/>
              </a:rPr>
              <a:t>8 / 11</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365760" y="274320"/>
            <a:ext cx="36576" cy="292608"/>
          </a:xfrm>
          <a:prstGeom prst="rect">
            <a:avLst/>
          </a:prstGeom>
          <a:solidFill>
            <a:srgbClr val="B85042"/>
          </a:solidFill>
          <a:ln w="12700">
            <a:solidFill>
              <a:srgbClr val="B85042"/>
            </a:solidFill>
            <a:prstDash val="solid"/>
          </a:ln>
        </p:spPr>
      </p:sp>
      <p:sp>
        <p:nvSpPr>
          <p:cNvPr id="3" name="Text 1"/>
          <p:cNvSpPr/>
          <p:nvPr/>
        </p:nvSpPr>
        <p:spPr>
          <a:xfrm>
            <a:off x="475488" y="237744"/>
            <a:ext cx="548640" cy="365760"/>
          </a:xfrm>
          <a:prstGeom prst="rect">
            <a:avLst/>
          </a:prstGeom>
          <a:noFill/>
          <a:ln/>
        </p:spPr>
        <p:txBody>
          <a:bodyPr wrap="square" lIns="0" tIns="0" rIns="0" bIns="0" rtlCol="0" anchor="ctr"/>
          <a:lstStyle/>
          <a:p>
            <a:pPr algn="l" indent="0" marL="0">
              <a:buNone/>
            </a:pPr>
            <a:r>
              <a:rPr lang="en-US" sz="1600" i="1" dirty="0">
                <a:solidFill>
                  <a:srgbClr val="B85042"/>
                </a:solidFill>
                <a:latin typeface="Cambria" pitchFamily="34" charset="0"/>
                <a:ea typeface="Cambria" pitchFamily="34" charset="-122"/>
                <a:cs typeface="Cambria" pitchFamily="34" charset="-120"/>
              </a:rPr>
              <a:t>VIII</a:t>
            </a:r>
            <a:endParaRPr lang="en-US" sz="1600" dirty="0"/>
          </a:p>
        </p:txBody>
      </p:sp>
      <p:sp>
        <p:nvSpPr>
          <p:cNvPr id="4" name="Text 2"/>
          <p:cNvSpPr/>
          <p:nvPr/>
        </p:nvSpPr>
        <p:spPr>
          <a:xfrm>
            <a:off x="365760" y="713232"/>
            <a:ext cx="8412480" cy="548640"/>
          </a:xfrm>
          <a:prstGeom prst="rect">
            <a:avLst/>
          </a:prstGeom>
          <a:noFill/>
          <a:ln/>
        </p:spPr>
        <p:txBody>
          <a:bodyPr wrap="square" lIns="0" tIns="0" rIns="0" bIns="0" rtlCol="0" anchor="ctr"/>
          <a:lstStyle/>
          <a:p>
            <a:pPr indent="0" marL="0">
              <a:buNone/>
            </a:pPr>
            <a:r>
              <a:rPr lang="en-US" sz="2500" dirty="0">
                <a:solidFill>
                  <a:srgbClr val="3D4248"/>
                </a:solidFill>
                <a:latin typeface="Cambria" pitchFamily="34" charset="0"/>
                <a:ea typeface="Cambria" pitchFamily="34" charset="-122"/>
                <a:cs typeface="Cambria" pitchFamily="34" charset="-120"/>
              </a:rPr>
              <a:t>Lo que ya está construido  ·  Santa Catalina · Woermann</a:t>
            </a:r>
            <a:endParaRPr lang="en-US" sz="2500" dirty="0"/>
          </a:p>
        </p:txBody>
      </p:sp>
      <p:sp>
        <p:nvSpPr>
          <p:cNvPr id="5" name="Text 3"/>
          <p:cNvSpPr/>
          <p:nvPr/>
        </p:nvSpPr>
        <p:spPr>
          <a:xfrm>
            <a:off x="365760" y="1280160"/>
            <a:ext cx="8412480" cy="365760"/>
          </a:xfrm>
          <a:prstGeom prst="rect">
            <a:avLst/>
          </a:prstGeom>
          <a:noFill/>
          <a:ln/>
        </p:spPr>
        <p:txBody>
          <a:bodyPr wrap="square" lIns="0" tIns="0" rIns="0" bIns="0" rtlCol="0" anchor="ctr"/>
          <a:lstStyle/>
          <a:p>
            <a:pPr indent="0" marL="0">
              <a:buNone/>
            </a:pPr>
            <a:r>
              <a:rPr lang="en-US" sz="1200" i="1" dirty="0">
                <a:solidFill>
                  <a:srgbClr val="5A6068"/>
                </a:solidFill>
                <a:latin typeface="Calibri" pitchFamily="34" charset="0"/>
                <a:ea typeface="Calibri" pitchFamily="34" charset="-122"/>
                <a:cs typeface="Calibri" pitchFamily="34" charset="-120"/>
              </a:rPr>
              <a:t>Sección 35016 03 058 · 159 edificios · vista isométrica reconocible — el Edificio Woermann y la plaza son visibles a primer golpe</a:t>
            </a:r>
            <a:endParaRPr lang="en-US" sz="1200" dirty="0"/>
          </a:p>
        </p:txBody>
      </p:sp>
      <p:pic>
        <p:nvPicPr>
          <p:cNvPr id="6" name="Image 0" descr="assets/woermann_iso.png">    </p:cNvPr>
          <p:cNvPicPr>
            <a:picLocks noChangeAspect="1"/>
          </p:cNvPicPr>
          <p:nvPr/>
        </p:nvPicPr>
        <p:blipFill>
          <a:blip r:embed="rId2"/>
          <a:stretch>
            <a:fillRect/>
          </a:stretch>
        </p:blipFill>
        <p:spPr>
          <a:xfrm>
            <a:off x="365760" y="1737360"/>
            <a:ext cx="4572000" cy="2377440"/>
          </a:xfrm>
          <a:prstGeom prst="rect">
            <a:avLst/>
          </a:prstGeom>
        </p:spPr>
      </p:pic>
      <p:sp>
        <p:nvSpPr>
          <p:cNvPr id="7" name="Text 4"/>
          <p:cNvSpPr/>
          <p:nvPr/>
        </p:nvSpPr>
        <p:spPr>
          <a:xfrm>
            <a:off x="365760" y="4160520"/>
            <a:ext cx="4572000" cy="274320"/>
          </a:xfrm>
          <a:prstGeom prst="rect">
            <a:avLst/>
          </a:prstGeom>
          <a:noFill/>
          <a:ln/>
        </p:spPr>
        <p:txBody>
          <a:bodyPr wrap="square" lIns="0" tIns="0" rIns="0" bIns="0" rtlCol="0" anchor="ctr"/>
          <a:lstStyle/>
          <a:p>
            <a:pPr indent="0" marL="0">
              <a:buNone/>
            </a:pPr>
            <a:r>
              <a:rPr lang="en-US" sz="1000" b="1" dirty="0">
                <a:solidFill>
                  <a:srgbClr val="3D4248"/>
                </a:solidFill>
                <a:latin typeface="Calibri" pitchFamily="34" charset="0"/>
                <a:ea typeface="Calibri" pitchFamily="34" charset="-122"/>
                <a:cs typeface="Calibri" pitchFamily="34" charset="-120"/>
              </a:rPr>
              <a:t>Santa Catalina-Canteras  ·  vista cenital isométrica</a:t>
            </a:r>
            <a:endParaRPr lang="en-US" sz="1000" dirty="0"/>
          </a:p>
        </p:txBody>
      </p:sp>
      <p:sp>
        <p:nvSpPr>
          <p:cNvPr id="8" name="Text 5"/>
          <p:cNvSpPr/>
          <p:nvPr/>
        </p:nvSpPr>
        <p:spPr>
          <a:xfrm>
            <a:off x="365760" y="4389120"/>
            <a:ext cx="4572000" cy="365760"/>
          </a:xfrm>
          <a:prstGeom prst="rect">
            <a:avLst/>
          </a:prstGeom>
          <a:noFill/>
          <a:ln/>
        </p:spPr>
        <p:txBody>
          <a:bodyPr wrap="square" lIns="0" tIns="0" rIns="0" bIns="0" rtlCol="0" anchor="ctr"/>
          <a:lstStyle/>
          <a:p>
            <a:pPr indent="0" marL="0">
              <a:buNone/>
            </a:pPr>
            <a:r>
              <a:rPr lang="en-US" sz="900" i="1" dirty="0">
                <a:solidFill>
                  <a:srgbClr val="5A6068"/>
                </a:solidFill>
                <a:latin typeface="Calibri" pitchFamily="34" charset="0"/>
                <a:ea typeface="Calibri" pitchFamily="34" charset="-122"/>
                <a:cs typeface="Calibri" pitchFamily="34" charset="-120"/>
              </a:rPr>
              <a:t>Cada edificio tiene su altura real del Catastro. El gran bloque del centro y el contorno de la plaza permiten reconocer la zona sin necesidad de etiquetas.</a:t>
            </a:r>
            <a:endParaRPr lang="en-US" sz="900" dirty="0"/>
          </a:p>
        </p:txBody>
      </p:sp>
      <p:pic>
        <p:nvPicPr>
          <p:cNvPr id="9" name="Image 1" descr="assets/hero.png">    </p:cNvPr>
          <p:cNvPicPr>
            <a:picLocks noChangeAspect="1"/>
          </p:cNvPicPr>
          <p:nvPr/>
        </p:nvPicPr>
        <p:blipFill>
          <a:blip r:embed="rId3"/>
          <a:stretch>
            <a:fillRect/>
          </a:stretch>
        </p:blipFill>
        <p:spPr>
          <a:xfrm>
            <a:off x="5120640" y="1737360"/>
            <a:ext cx="3657600" cy="2377440"/>
          </a:xfrm>
          <a:prstGeom prst="rect">
            <a:avLst/>
          </a:prstGeom>
        </p:spPr>
      </p:pic>
      <p:sp>
        <p:nvSpPr>
          <p:cNvPr id="10" name="Text 6"/>
          <p:cNvSpPr/>
          <p:nvPr/>
        </p:nvSpPr>
        <p:spPr>
          <a:xfrm>
            <a:off x="5120640" y="4160520"/>
            <a:ext cx="3657600" cy="274320"/>
          </a:xfrm>
          <a:prstGeom prst="rect">
            <a:avLst/>
          </a:prstGeom>
          <a:noFill/>
          <a:ln/>
        </p:spPr>
        <p:txBody>
          <a:bodyPr wrap="square" lIns="0" tIns="0" rIns="0" bIns="0" rtlCol="0" anchor="ctr"/>
          <a:lstStyle/>
          <a:p>
            <a:pPr indent="0" marL="0">
              <a:buNone/>
            </a:pPr>
            <a:r>
              <a:rPr lang="en-US" sz="1000" b="1" dirty="0">
                <a:solidFill>
                  <a:srgbClr val="3D4248"/>
                </a:solidFill>
                <a:latin typeface="Calibri" pitchFamily="34" charset="0"/>
                <a:ea typeface="Calibri" pitchFamily="34" charset="-122"/>
                <a:cs typeface="Calibri" pitchFamily="34" charset="-120"/>
              </a:rPr>
              <a:t>Las Canteras 052  ·  capa de eventos culturales</a:t>
            </a:r>
            <a:endParaRPr lang="en-US" sz="1000" dirty="0"/>
          </a:p>
        </p:txBody>
      </p:sp>
      <p:sp>
        <p:nvSpPr>
          <p:cNvPr id="11" name="Text 7"/>
          <p:cNvSpPr/>
          <p:nvPr/>
        </p:nvSpPr>
        <p:spPr>
          <a:xfrm>
            <a:off x="5120640" y="4389120"/>
            <a:ext cx="3657600" cy="365760"/>
          </a:xfrm>
          <a:prstGeom prst="rect">
            <a:avLst/>
          </a:prstGeom>
          <a:noFill/>
          <a:ln/>
        </p:spPr>
        <p:txBody>
          <a:bodyPr wrap="square" lIns="0" tIns="0" rIns="0" bIns="0" rtlCol="0" anchor="ctr"/>
          <a:lstStyle/>
          <a:p>
            <a:pPr indent="0" marL="0">
              <a:buNone/>
            </a:pPr>
            <a:r>
              <a:rPr lang="en-US" sz="900" i="1" dirty="0">
                <a:solidFill>
                  <a:srgbClr val="5A6068"/>
                </a:solidFill>
                <a:latin typeface="Calibri" pitchFamily="34" charset="0"/>
                <a:ea typeface="Calibri" pitchFamily="34" charset="-122"/>
                <a:cs typeface="Calibri" pitchFamily="34" charset="-120"/>
              </a:rPr>
              <a:t>Concierto OFGC – Mahler en el Auditorio Alfredo Kraus; asamblea vecinal mañana 19:00. Eventos reales conectables a Pérez Galdós y otros venues.</a:t>
            </a:r>
            <a:endParaRPr lang="en-US" sz="900" dirty="0"/>
          </a:p>
        </p:txBody>
      </p:sp>
      <p:sp>
        <p:nvSpPr>
          <p:cNvPr id="12" name="Text 8"/>
          <p:cNvSpPr/>
          <p:nvPr/>
        </p:nvSpPr>
        <p:spPr>
          <a:xfrm>
            <a:off x="365760" y="4846320"/>
            <a:ext cx="5486400" cy="228600"/>
          </a:xfrm>
          <a:prstGeom prst="rect">
            <a:avLst/>
          </a:prstGeom>
          <a:noFill/>
          <a:ln/>
        </p:spPr>
        <p:txBody>
          <a:bodyPr wrap="square" lIns="0" tIns="0" rIns="0" bIns="0" rtlCol="0" anchor="ctr"/>
          <a:lstStyle/>
          <a:p>
            <a:pPr indent="0" marL="0">
              <a:buNone/>
            </a:pPr>
            <a:r>
              <a:rPr lang="en-US" sz="900" dirty="0">
                <a:solidFill>
                  <a:srgbClr val="7B7E84"/>
                </a:solidFill>
                <a:latin typeface="Calibri" pitchFamily="34" charset="0"/>
                <a:ea typeface="Calibri" pitchFamily="34" charset="-122"/>
                <a:cs typeface="Calibri" pitchFamily="34" charset="-120"/>
              </a:rPr>
              <a:t>Redes cívicas gamificadas</a:t>
            </a:r>
            <a:pPr indent="0" marL="0">
              <a:buNone/>
            </a:pPr>
            <a:r>
              <a:rPr lang="en-US" sz="900" dirty="0">
                <a:solidFill>
                  <a:srgbClr val="7B7E84"/>
                </a:solidFill>
                <a:latin typeface="Calibri" pitchFamily="34" charset="0"/>
                <a:ea typeface="Calibri" pitchFamily="34" charset="-122"/>
                <a:cs typeface="Calibri" pitchFamily="34" charset="-120"/>
              </a:rPr>
              <a:t>   ·   </a:t>
            </a:r>
            <a:pPr indent="0" marL="0">
              <a:buNone/>
            </a:pPr>
            <a:r>
              <a:rPr lang="en-US" sz="900" dirty="0">
                <a:solidFill>
                  <a:srgbClr val="7B7E84"/>
                </a:solidFill>
                <a:latin typeface="Calibri" pitchFamily="34" charset="0"/>
                <a:ea typeface="Calibri" pitchFamily="34" charset="-122"/>
                <a:cs typeface="Calibri" pitchFamily="34" charset="-120"/>
              </a:rPr>
              <a:t>F. Rebollo Bautista</a:t>
            </a:r>
            <a:endParaRPr lang="en-US" sz="900" dirty="0"/>
          </a:p>
        </p:txBody>
      </p:sp>
      <p:sp>
        <p:nvSpPr>
          <p:cNvPr id="13" name="Text 9"/>
          <p:cNvSpPr/>
          <p:nvPr/>
        </p:nvSpPr>
        <p:spPr>
          <a:xfrm>
            <a:off x="7772400" y="4846320"/>
            <a:ext cx="1005840" cy="228600"/>
          </a:xfrm>
          <a:prstGeom prst="rect">
            <a:avLst/>
          </a:prstGeom>
          <a:noFill/>
          <a:ln/>
        </p:spPr>
        <p:txBody>
          <a:bodyPr wrap="square" lIns="0" tIns="0" rIns="0" bIns="0" rtlCol="0" anchor="ctr"/>
          <a:lstStyle/>
          <a:p>
            <a:pPr algn="r" indent="0" marL="0">
              <a:buNone/>
            </a:pPr>
            <a:r>
              <a:rPr lang="en-US" sz="900" dirty="0">
                <a:solidFill>
                  <a:srgbClr val="7B7E84"/>
                </a:solidFill>
                <a:latin typeface="Calibri" pitchFamily="34" charset="0"/>
                <a:ea typeface="Calibri" pitchFamily="34" charset="-122"/>
                <a:cs typeface="Calibri" pitchFamily="34" charset="-120"/>
              </a:rPr>
              <a:t>9 / 11</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365760" y="274320"/>
            <a:ext cx="36576" cy="292608"/>
          </a:xfrm>
          <a:prstGeom prst="rect">
            <a:avLst/>
          </a:prstGeom>
          <a:solidFill>
            <a:srgbClr val="B85042"/>
          </a:solidFill>
          <a:ln w="12700">
            <a:solidFill>
              <a:srgbClr val="B85042"/>
            </a:solidFill>
            <a:prstDash val="solid"/>
          </a:ln>
        </p:spPr>
      </p:sp>
      <p:sp>
        <p:nvSpPr>
          <p:cNvPr id="3" name="Text 1"/>
          <p:cNvSpPr/>
          <p:nvPr/>
        </p:nvSpPr>
        <p:spPr>
          <a:xfrm>
            <a:off x="475488" y="237744"/>
            <a:ext cx="548640" cy="365760"/>
          </a:xfrm>
          <a:prstGeom prst="rect">
            <a:avLst/>
          </a:prstGeom>
          <a:noFill/>
          <a:ln/>
        </p:spPr>
        <p:txBody>
          <a:bodyPr wrap="square" lIns="0" tIns="0" rIns="0" bIns="0" rtlCol="0" anchor="ctr"/>
          <a:lstStyle/>
          <a:p>
            <a:pPr algn="l" indent="0" marL="0">
              <a:buNone/>
            </a:pPr>
            <a:r>
              <a:rPr lang="en-US" sz="1600" i="1" dirty="0">
                <a:solidFill>
                  <a:srgbClr val="B85042"/>
                </a:solidFill>
                <a:latin typeface="Cambria" pitchFamily="34" charset="0"/>
                <a:ea typeface="Cambria" pitchFamily="34" charset="-122"/>
                <a:cs typeface="Cambria" pitchFamily="34" charset="-120"/>
              </a:rPr>
              <a:t>IX</a:t>
            </a:r>
            <a:endParaRPr lang="en-US" sz="1600" dirty="0"/>
          </a:p>
        </p:txBody>
      </p:sp>
      <p:sp>
        <p:nvSpPr>
          <p:cNvPr id="4" name="Text 2"/>
          <p:cNvSpPr/>
          <p:nvPr/>
        </p:nvSpPr>
        <p:spPr>
          <a:xfrm>
            <a:off x="365760" y="713232"/>
            <a:ext cx="8412480" cy="548640"/>
          </a:xfrm>
          <a:prstGeom prst="rect">
            <a:avLst/>
          </a:prstGeom>
          <a:noFill/>
          <a:ln/>
        </p:spPr>
        <p:txBody>
          <a:bodyPr wrap="square" lIns="0" tIns="0" rIns="0" bIns="0" rtlCol="0" anchor="ctr"/>
          <a:lstStyle/>
          <a:p>
            <a:pPr indent="0" marL="0">
              <a:buNone/>
            </a:pPr>
            <a:r>
              <a:rPr lang="en-US" sz="2600" dirty="0">
                <a:solidFill>
                  <a:srgbClr val="3D4248"/>
                </a:solidFill>
                <a:latin typeface="Cambria" pitchFamily="34" charset="0"/>
                <a:ea typeface="Cambria" pitchFamily="34" charset="-122"/>
                <a:cs typeface="Cambria" pitchFamily="34" charset="-120"/>
              </a:rPr>
              <a:t>Funcionalidades  ·  guaguas + servicios públicos</a:t>
            </a:r>
            <a:endParaRPr lang="en-US" sz="2600" dirty="0"/>
          </a:p>
        </p:txBody>
      </p:sp>
      <p:sp>
        <p:nvSpPr>
          <p:cNvPr id="5" name="Text 3"/>
          <p:cNvSpPr/>
          <p:nvPr/>
        </p:nvSpPr>
        <p:spPr>
          <a:xfrm>
            <a:off x="365760" y="1280160"/>
            <a:ext cx="8412480" cy="365760"/>
          </a:xfrm>
          <a:prstGeom prst="rect">
            <a:avLst/>
          </a:prstGeom>
          <a:noFill/>
          <a:ln/>
        </p:spPr>
        <p:txBody>
          <a:bodyPr wrap="square" lIns="0" tIns="0" rIns="0" bIns="0" rtlCol="0" anchor="ctr"/>
          <a:lstStyle/>
          <a:p>
            <a:pPr indent="0" marL="0">
              <a:buNone/>
            </a:pPr>
            <a:r>
              <a:rPr lang="en-US" sz="1300" i="1" dirty="0">
                <a:solidFill>
                  <a:srgbClr val="5A6068"/>
                </a:solidFill>
                <a:latin typeface="Calibri" pitchFamily="34" charset="0"/>
                <a:ea typeface="Calibri" pitchFamily="34" charset="-122"/>
                <a:cs typeface="Calibri" pitchFamily="34" charset="-120"/>
              </a:rPr>
              <a:t>Datos abiertos del Ayuntamiento integrados con la mecánica gamificada — moverse y usar los servicios genera puntos cívicos</a:t>
            </a:r>
            <a:endParaRPr lang="en-US" sz="1300" dirty="0"/>
          </a:p>
        </p:txBody>
      </p:sp>
      <p:pic>
        <p:nvPicPr>
          <p:cNvPr id="6" name="Image 0" descr="assets/mock_guaguas.png">    </p:cNvPr>
          <p:cNvPicPr>
            <a:picLocks noChangeAspect="1"/>
          </p:cNvPicPr>
          <p:nvPr/>
        </p:nvPicPr>
        <p:blipFill>
          <a:blip r:embed="rId2"/>
          <a:stretch>
            <a:fillRect/>
          </a:stretch>
        </p:blipFill>
        <p:spPr>
          <a:xfrm>
            <a:off x="640080" y="1691640"/>
            <a:ext cx="2377440" cy="2651760"/>
          </a:xfrm>
          <a:prstGeom prst="rect">
            <a:avLst/>
          </a:prstGeom>
        </p:spPr>
      </p:pic>
      <p:sp>
        <p:nvSpPr>
          <p:cNvPr id="7" name="Shape 4"/>
          <p:cNvSpPr/>
          <p:nvPr/>
        </p:nvSpPr>
        <p:spPr>
          <a:xfrm>
            <a:off x="3200400" y="1783080"/>
            <a:ext cx="36576" cy="2560320"/>
          </a:xfrm>
          <a:prstGeom prst="rect">
            <a:avLst/>
          </a:prstGeom>
          <a:solidFill>
            <a:srgbClr val="BC9046"/>
          </a:solidFill>
          <a:ln w="12700">
            <a:solidFill>
              <a:srgbClr val="BC9046"/>
            </a:solidFill>
            <a:prstDash val="solid"/>
          </a:ln>
        </p:spPr>
      </p:sp>
      <p:sp>
        <p:nvSpPr>
          <p:cNvPr id="8" name="Text 5"/>
          <p:cNvSpPr/>
          <p:nvPr/>
        </p:nvSpPr>
        <p:spPr>
          <a:xfrm>
            <a:off x="3337560" y="1783080"/>
            <a:ext cx="2286000" cy="228600"/>
          </a:xfrm>
          <a:prstGeom prst="rect">
            <a:avLst/>
          </a:prstGeom>
          <a:noFill/>
          <a:ln/>
        </p:spPr>
        <p:txBody>
          <a:bodyPr wrap="square" lIns="0" tIns="0" rIns="0" bIns="0" rtlCol="0" anchor="ctr"/>
          <a:lstStyle/>
          <a:p>
            <a:pPr indent="0" marL="0">
              <a:buNone/>
            </a:pPr>
            <a:r>
              <a:rPr lang="en-US" sz="1000" b="1" spc="400" kern="0" dirty="0">
                <a:solidFill>
                  <a:srgbClr val="BC9046"/>
                </a:solidFill>
                <a:latin typeface="Calibri" pitchFamily="34" charset="0"/>
                <a:ea typeface="Calibri" pitchFamily="34" charset="-122"/>
                <a:cs typeface="Calibri" pitchFamily="34" charset="-120"/>
              </a:rPr>
              <a:t>GUAGUAS MUNICIPALES</a:t>
            </a:r>
            <a:endParaRPr lang="en-US" sz="1000" dirty="0"/>
          </a:p>
        </p:txBody>
      </p:sp>
      <p:sp>
        <p:nvSpPr>
          <p:cNvPr id="9" name="Text 6"/>
          <p:cNvSpPr/>
          <p:nvPr/>
        </p:nvSpPr>
        <p:spPr>
          <a:xfrm>
            <a:off x="3337560" y="2029968"/>
            <a:ext cx="2286000" cy="292608"/>
          </a:xfrm>
          <a:prstGeom prst="rect">
            <a:avLst/>
          </a:prstGeom>
          <a:noFill/>
          <a:ln/>
        </p:spPr>
        <p:txBody>
          <a:bodyPr wrap="square" lIns="0" tIns="0" rIns="0" bIns="0" rtlCol="0" anchor="ctr"/>
          <a:lstStyle/>
          <a:p>
            <a:pPr indent="0" marL="0">
              <a:buNone/>
            </a:pPr>
            <a:r>
              <a:rPr lang="en-US" sz="1400" b="1" dirty="0">
                <a:solidFill>
                  <a:srgbClr val="3D4248"/>
                </a:solidFill>
                <a:latin typeface="Cambria" pitchFamily="34" charset="0"/>
                <a:ea typeface="Cambria" pitchFamily="34" charset="-122"/>
                <a:cs typeface="Cambria" pitchFamily="34" charset="-120"/>
              </a:rPr>
              <a:t>Próximas guaguas en tiempo real</a:t>
            </a:r>
            <a:endParaRPr lang="en-US" sz="1400" dirty="0"/>
          </a:p>
        </p:txBody>
      </p:sp>
      <p:sp>
        <p:nvSpPr>
          <p:cNvPr id="10" name="Text 7"/>
          <p:cNvSpPr/>
          <p:nvPr/>
        </p:nvSpPr>
        <p:spPr>
          <a:xfrm>
            <a:off x="3337560" y="2331720"/>
            <a:ext cx="2286000" cy="1280160"/>
          </a:xfrm>
          <a:prstGeom prst="rect">
            <a:avLst/>
          </a:prstGeom>
          <a:noFill/>
          <a:ln/>
        </p:spPr>
        <p:txBody>
          <a:bodyPr wrap="square" lIns="0" tIns="0" rIns="0" bIns="0" rtlCol="0" anchor="t"/>
          <a:lstStyle/>
          <a:p>
            <a:pPr indent="0" marL="0">
              <a:spcAft>
                <a:spcPts val="200"/>
              </a:spcAft>
              <a:buNone/>
            </a:pPr>
            <a:r>
              <a:rPr lang="en-US" sz="1000" dirty="0">
                <a:solidFill>
                  <a:srgbClr val="5A6068"/>
                </a:solidFill>
                <a:latin typeface="Calibri" pitchFamily="34" charset="0"/>
                <a:ea typeface="Calibri" pitchFamily="34" charset="-122"/>
                <a:cs typeface="Calibri" pitchFamily="34" charset="-120"/>
              </a:rPr>
              <a:t>ETA por línea desde la parada más cercana, integrando </a:t>
            </a:r>
            <a:pPr indent="0" marL="0">
              <a:spcAft>
                <a:spcPts val="200"/>
              </a:spcAft>
              <a:buNone/>
            </a:pPr>
            <a:r>
              <a:rPr lang="en-US" sz="1000" b="1" dirty="0">
                <a:solidFill>
                  <a:srgbClr val="3D4248"/>
                </a:solidFill>
                <a:latin typeface="Calibri" pitchFamily="34" charset="0"/>
                <a:ea typeface="Calibri" pitchFamily="34" charset="-122"/>
                <a:cs typeface="Calibri" pitchFamily="34" charset="-120"/>
              </a:rPr>
              <a:t>GTFS de Guaguas Municipales</a:t>
            </a:r>
            <a:pPr indent="0" marL="0">
              <a:spcAft>
                <a:spcPts val="200"/>
              </a:spcAft>
              <a:buNone/>
            </a:pPr>
            <a:r>
              <a:rPr lang="en-US" sz="1000" dirty="0">
                <a:solidFill>
                  <a:srgbClr val="5A6068"/>
                </a:solidFill>
                <a:latin typeface="Calibri" pitchFamily="34" charset="0"/>
                <a:ea typeface="Calibri" pitchFamily="34" charset="-122"/>
                <a:cs typeface="Calibri" pitchFamily="34" charset="-120"/>
              </a:rPr>
              <a:t>. El usuario gana puntos al validar el viaje (incentivo de transporte público).</a:t>
            </a:r>
            <a:endParaRPr lang="en-US" sz="1000" dirty="0"/>
          </a:p>
        </p:txBody>
      </p:sp>
      <p:sp>
        <p:nvSpPr>
          <p:cNvPr id="11" name="Text 8"/>
          <p:cNvSpPr/>
          <p:nvPr/>
        </p:nvSpPr>
        <p:spPr>
          <a:xfrm>
            <a:off x="3337560" y="3749040"/>
            <a:ext cx="2286000" cy="502920"/>
          </a:xfrm>
          <a:prstGeom prst="rect">
            <a:avLst/>
          </a:prstGeom>
          <a:noFill/>
          <a:ln/>
        </p:spPr>
        <p:txBody>
          <a:bodyPr wrap="square" lIns="0" tIns="0" rIns="0" bIns="0" rtlCol="0" anchor="t"/>
          <a:lstStyle/>
          <a:p>
            <a:pPr indent="0" marL="0">
              <a:buNone/>
            </a:pPr>
            <a:r>
              <a:rPr lang="en-US" sz="950" i="1" dirty="0">
                <a:solidFill>
                  <a:srgbClr val="5A6068"/>
                </a:solidFill>
                <a:latin typeface="Calibri" pitchFamily="34" charset="0"/>
                <a:ea typeface="Calibri" pitchFamily="34" charset="-122"/>
                <a:cs typeface="Calibri" pitchFamily="34" charset="-120"/>
              </a:rPr>
              <a:t>·  Líneas interurbanas también: Pto. Rosario ↔ LPGC visible desde la misma vista.</a:t>
            </a:r>
            <a:endParaRPr lang="en-US" sz="950" dirty="0"/>
          </a:p>
        </p:txBody>
      </p:sp>
      <p:pic>
        <p:nvPicPr>
          <p:cNvPr id="12" name="Image 1" descr="assets/mock_servicios.png">    </p:cNvPr>
          <p:cNvPicPr>
            <a:picLocks noChangeAspect="1"/>
          </p:cNvPicPr>
          <p:nvPr/>
        </p:nvPicPr>
        <p:blipFill>
          <a:blip r:embed="rId3"/>
          <a:stretch>
            <a:fillRect/>
          </a:stretch>
        </p:blipFill>
        <p:spPr>
          <a:xfrm>
            <a:off x="6355080" y="1691640"/>
            <a:ext cx="2377440" cy="2651760"/>
          </a:xfrm>
          <a:prstGeom prst="rect">
            <a:avLst/>
          </a:prstGeom>
        </p:spPr>
      </p:pic>
      <p:sp>
        <p:nvSpPr>
          <p:cNvPr id="13" name="Shape 9"/>
          <p:cNvSpPr/>
          <p:nvPr/>
        </p:nvSpPr>
        <p:spPr>
          <a:xfrm>
            <a:off x="5806440" y="4434840"/>
            <a:ext cx="3017520" cy="36576"/>
          </a:xfrm>
          <a:prstGeom prst="rect">
            <a:avLst/>
          </a:prstGeom>
          <a:solidFill>
            <a:srgbClr val="5F9169"/>
          </a:solidFill>
          <a:ln w="12700">
            <a:solidFill>
              <a:srgbClr val="5F9169"/>
            </a:solidFill>
            <a:prstDash val="solid"/>
          </a:ln>
        </p:spPr>
      </p:sp>
      <p:sp>
        <p:nvSpPr>
          <p:cNvPr id="14" name="Text 10"/>
          <p:cNvSpPr/>
          <p:nvPr/>
        </p:nvSpPr>
        <p:spPr>
          <a:xfrm>
            <a:off x="5806440" y="4498848"/>
            <a:ext cx="3017520" cy="201168"/>
          </a:xfrm>
          <a:prstGeom prst="rect">
            <a:avLst/>
          </a:prstGeom>
          <a:noFill/>
          <a:ln/>
        </p:spPr>
        <p:txBody>
          <a:bodyPr wrap="square" lIns="0" tIns="0" rIns="0" bIns="0" rtlCol="0" anchor="ctr"/>
          <a:lstStyle/>
          <a:p>
            <a:pPr indent="0" marL="0">
              <a:buNone/>
            </a:pPr>
            <a:r>
              <a:rPr lang="en-US" sz="1000" b="1" spc="400" kern="0" dirty="0">
                <a:solidFill>
                  <a:srgbClr val="5F9169"/>
                </a:solidFill>
                <a:latin typeface="Calibri" pitchFamily="34" charset="0"/>
                <a:ea typeface="Calibri" pitchFamily="34" charset="-122"/>
                <a:cs typeface="Calibri" pitchFamily="34" charset="-120"/>
              </a:rPr>
              <a:t>SERVICIOS PÚBLICOS</a:t>
            </a:r>
            <a:endParaRPr lang="en-US" sz="1000" dirty="0"/>
          </a:p>
        </p:txBody>
      </p:sp>
      <p:sp>
        <p:nvSpPr>
          <p:cNvPr id="15" name="Text 11"/>
          <p:cNvSpPr/>
          <p:nvPr/>
        </p:nvSpPr>
        <p:spPr>
          <a:xfrm>
            <a:off x="5806440" y="4690872"/>
            <a:ext cx="3017520" cy="201168"/>
          </a:xfrm>
          <a:prstGeom prst="rect">
            <a:avLst/>
          </a:prstGeom>
          <a:noFill/>
          <a:ln/>
        </p:spPr>
        <p:txBody>
          <a:bodyPr wrap="square" lIns="0" tIns="0" rIns="0" bIns="0" rtlCol="0" anchor="ctr"/>
          <a:lstStyle/>
          <a:p>
            <a:pPr indent="0" marL="0">
              <a:buNone/>
            </a:pPr>
            <a:r>
              <a:rPr lang="en-US" sz="1000" i="1" dirty="0">
                <a:solidFill>
                  <a:srgbClr val="5A6068"/>
                </a:solidFill>
                <a:latin typeface="Calibri" pitchFamily="34" charset="0"/>
                <a:ea typeface="Calibri" pitchFamily="34" charset="-122"/>
                <a:cs typeface="Calibri" pitchFamily="34" charset="-120"/>
              </a:rPr>
              <a:t>Filtros: Salud · Educación · Cultura · Trámites</a:t>
            </a:r>
            <a:endParaRPr lang="en-US" sz="1000" dirty="0"/>
          </a:p>
        </p:txBody>
      </p:sp>
      <p:sp>
        <p:nvSpPr>
          <p:cNvPr id="16" name="Text 12"/>
          <p:cNvSpPr/>
          <p:nvPr/>
        </p:nvSpPr>
        <p:spPr>
          <a:xfrm>
            <a:off x="365760" y="4846320"/>
            <a:ext cx="5486400" cy="228600"/>
          </a:xfrm>
          <a:prstGeom prst="rect">
            <a:avLst/>
          </a:prstGeom>
          <a:noFill/>
          <a:ln/>
        </p:spPr>
        <p:txBody>
          <a:bodyPr wrap="square" lIns="0" tIns="0" rIns="0" bIns="0" rtlCol="0" anchor="ctr"/>
          <a:lstStyle/>
          <a:p>
            <a:pPr indent="0" marL="0">
              <a:buNone/>
            </a:pPr>
            <a:r>
              <a:rPr lang="en-US" sz="900" dirty="0">
                <a:solidFill>
                  <a:srgbClr val="7B7E84"/>
                </a:solidFill>
                <a:latin typeface="Calibri" pitchFamily="34" charset="0"/>
                <a:ea typeface="Calibri" pitchFamily="34" charset="-122"/>
                <a:cs typeface="Calibri" pitchFamily="34" charset="-120"/>
              </a:rPr>
              <a:t>Redes cívicas gamificadas</a:t>
            </a:r>
            <a:pPr indent="0" marL="0">
              <a:buNone/>
            </a:pPr>
            <a:r>
              <a:rPr lang="en-US" sz="900" dirty="0">
                <a:solidFill>
                  <a:srgbClr val="7B7E84"/>
                </a:solidFill>
                <a:latin typeface="Calibri" pitchFamily="34" charset="0"/>
                <a:ea typeface="Calibri" pitchFamily="34" charset="-122"/>
                <a:cs typeface="Calibri" pitchFamily="34" charset="-120"/>
              </a:rPr>
              <a:t>   ·   </a:t>
            </a:r>
            <a:pPr indent="0" marL="0">
              <a:buNone/>
            </a:pPr>
            <a:r>
              <a:rPr lang="en-US" sz="900" dirty="0">
                <a:solidFill>
                  <a:srgbClr val="7B7E84"/>
                </a:solidFill>
                <a:latin typeface="Calibri" pitchFamily="34" charset="0"/>
                <a:ea typeface="Calibri" pitchFamily="34" charset="-122"/>
                <a:cs typeface="Calibri" pitchFamily="34" charset="-120"/>
              </a:rPr>
              <a:t>F. Rebollo Bautista</a:t>
            </a:r>
            <a:endParaRPr lang="en-US" sz="900" dirty="0"/>
          </a:p>
        </p:txBody>
      </p:sp>
      <p:sp>
        <p:nvSpPr>
          <p:cNvPr id="17" name="Text 13"/>
          <p:cNvSpPr/>
          <p:nvPr/>
        </p:nvSpPr>
        <p:spPr>
          <a:xfrm>
            <a:off x="7772400" y="4846320"/>
            <a:ext cx="1005840" cy="228600"/>
          </a:xfrm>
          <a:prstGeom prst="rect">
            <a:avLst/>
          </a:prstGeom>
          <a:noFill/>
          <a:ln/>
        </p:spPr>
        <p:txBody>
          <a:bodyPr wrap="square" lIns="0" tIns="0" rIns="0" bIns="0" rtlCol="0" anchor="ctr"/>
          <a:lstStyle/>
          <a:p>
            <a:pPr algn="r" indent="0" marL="0">
              <a:buNone/>
            </a:pPr>
            <a:r>
              <a:rPr lang="en-US" sz="900" dirty="0">
                <a:solidFill>
                  <a:srgbClr val="7B7E84"/>
                </a:solidFill>
                <a:latin typeface="Calibri" pitchFamily="34" charset="0"/>
                <a:ea typeface="Calibri" pitchFamily="34" charset="-122"/>
                <a:cs typeface="Calibri" pitchFamily="34" charset="-120"/>
              </a:rPr>
              <a:t>10 / 11</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365760" y="274320"/>
            <a:ext cx="36576" cy="292608"/>
          </a:xfrm>
          <a:prstGeom prst="rect">
            <a:avLst/>
          </a:prstGeom>
          <a:solidFill>
            <a:srgbClr val="B85042"/>
          </a:solidFill>
          <a:ln w="12700">
            <a:solidFill>
              <a:srgbClr val="B85042"/>
            </a:solidFill>
            <a:prstDash val="solid"/>
          </a:ln>
        </p:spPr>
      </p:sp>
      <p:sp>
        <p:nvSpPr>
          <p:cNvPr id="3" name="Text 1"/>
          <p:cNvSpPr/>
          <p:nvPr/>
        </p:nvSpPr>
        <p:spPr>
          <a:xfrm>
            <a:off x="475488" y="237744"/>
            <a:ext cx="548640" cy="365760"/>
          </a:xfrm>
          <a:prstGeom prst="rect">
            <a:avLst/>
          </a:prstGeom>
          <a:noFill/>
          <a:ln/>
        </p:spPr>
        <p:txBody>
          <a:bodyPr wrap="square" lIns="0" tIns="0" rIns="0" bIns="0" rtlCol="0" anchor="ctr"/>
          <a:lstStyle/>
          <a:p>
            <a:pPr algn="l" indent="0" marL="0">
              <a:buNone/>
            </a:pPr>
            <a:r>
              <a:rPr lang="en-US" sz="1600" i="1" dirty="0">
                <a:solidFill>
                  <a:srgbClr val="B85042"/>
                </a:solidFill>
                <a:latin typeface="Cambria" pitchFamily="34" charset="0"/>
                <a:ea typeface="Cambria" pitchFamily="34" charset="-122"/>
                <a:cs typeface="Cambria" pitchFamily="34" charset="-120"/>
              </a:rPr>
              <a:t>X</a:t>
            </a:r>
            <a:endParaRPr lang="en-US" sz="1600" dirty="0"/>
          </a:p>
        </p:txBody>
      </p:sp>
      <p:sp>
        <p:nvSpPr>
          <p:cNvPr id="4" name="Text 2"/>
          <p:cNvSpPr/>
          <p:nvPr/>
        </p:nvSpPr>
        <p:spPr>
          <a:xfrm>
            <a:off x="365760" y="713232"/>
            <a:ext cx="8412480" cy="548640"/>
          </a:xfrm>
          <a:prstGeom prst="rect">
            <a:avLst/>
          </a:prstGeom>
          <a:noFill/>
          <a:ln/>
        </p:spPr>
        <p:txBody>
          <a:bodyPr wrap="square" lIns="0" tIns="0" rIns="0" bIns="0" rtlCol="0" anchor="ctr"/>
          <a:lstStyle/>
          <a:p>
            <a:pPr indent="0" marL="0">
              <a:buNone/>
            </a:pPr>
            <a:r>
              <a:rPr lang="en-US" sz="2400" dirty="0">
                <a:solidFill>
                  <a:srgbClr val="3D4248"/>
                </a:solidFill>
                <a:latin typeface="Cambria" pitchFamily="34" charset="0"/>
                <a:ea typeface="Cambria" pitchFamily="34" charset="-122"/>
                <a:cs typeface="Cambria" pitchFamily="34" charset="-120"/>
              </a:rPr>
              <a:t>2026  ·  la capacidad de la IA para los proyectos piloto</a:t>
            </a:r>
            <a:endParaRPr lang="en-US" sz="2400" dirty="0"/>
          </a:p>
        </p:txBody>
      </p:sp>
      <p:sp>
        <p:nvSpPr>
          <p:cNvPr id="5" name="Text 3"/>
          <p:cNvSpPr/>
          <p:nvPr/>
        </p:nvSpPr>
        <p:spPr>
          <a:xfrm>
            <a:off x="365760" y="1243584"/>
            <a:ext cx="8412480" cy="365760"/>
          </a:xfrm>
          <a:prstGeom prst="rect">
            <a:avLst/>
          </a:prstGeom>
          <a:noFill/>
          <a:ln/>
        </p:spPr>
        <p:txBody>
          <a:bodyPr wrap="square" lIns="0" tIns="0" rIns="0" bIns="0" rtlCol="0" anchor="ctr"/>
          <a:lstStyle/>
          <a:p>
            <a:pPr indent="0" marL="0">
              <a:buNone/>
            </a:pPr>
            <a:r>
              <a:rPr lang="en-US" sz="1400" i="1" dirty="0">
                <a:solidFill>
                  <a:srgbClr val="5A6068"/>
                </a:solidFill>
                <a:latin typeface="Calibri" pitchFamily="34" charset="0"/>
                <a:ea typeface="Calibri" pitchFamily="34" charset="-122"/>
                <a:cs typeface="Calibri" pitchFamily="34" charset="-120"/>
              </a:rPr>
              <a:t>Lo que antes requería un equipo, hoy lo puede prototipar una persona con asistencia de IA — abriendo la puerta a pilotos reales</a:t>
            </a:r>
            <a:endParaRPr lang="en-US" sz="1400" dirty="0"/>
          </a:p>
        </p:txBody>
      </p:sp>
      <p:sp>
        <p:nvSpPr>
          <p:cNvPr id="6" name="Text 4"/>
          <p:cNvSpPr/>
          <p:nvPr/>
        </p:nvSpPr>
        <p:spPr>
          <a:xfrm>
            <a:off x="502920" y="1920240"/>
            <a:ext cx="548640" cy="822960"/>
          </a:xfrm>
          <a:prstGeom prst="rect">
            <a:avLst/>
          </a:prstGeom>
          <a:noFill/>
          <a:ln/>
        </p:spPr>
        <p:txBody>
          <a:bodyPr wrap="square" lIns="0" tIns="0" rIns="0" bIns="0" rtlCol="0" anchor="t"/>
          <a:lstStyle/>
          <a:p>
            <a:pPr indent="0" marL="0">
              <a:buNone/>
            </a:pPr>
            <a:r>
              <a:rPr lang="en-US" sz="3600" i="1" dirty="0">
                <a:solidFill>
                  <a:srgbClr val="B85042"/>
                </a:solidFill>
                <a:latin typeface="Cambria" pitchFamily="34" charset="0"/>
                <a:ea typeface="Cambria" pitchFamily="34" charset="-122"/>
                <a:cs typeface="Cambria" pitchFamily="34" charset="-120"/>
              </a:rPr>
              <a:t>I.</a:t>
            </a:r>
            <a:endParaRPr lang="en-US" sz="3600" dirty="0"/>
          </a:p>
        </p:txBody>
      </p:sp>
      <p:sp>
        <p:nvSpPr>
          <p:cNvPr id="7" name="Text 5"/>
          <p:cNvSpPr/>
          <p:nvPr/>
        </p:nvSpPr>
        <p:spPr>
          <a:xfrm>
            <a:off x="1051560" y="1938528"/>
            <a:ext cx="7589520" cy="365760"/>
          </a:xfrm>
          <a:prstGeom prst="rect">
            <a:avLst/>
          </a:prstGeom>
          <a:noFill/>
          <a:ln/>
        </p:spPr>
        <p:txBody>
          <a:bodyPr wrap="square" lIns="0" tIns="0" rIns="0" bIns="0" rtlCol="0" anchor="ctr"/>
          <a:lstStyle/>
          <a:p>
            <a:pPr indent="0" marL="0">
              <a:buNone/>
            </a:pPr>
            <a:r>
              <a:rPr lang="en-US" sz="1800" dirty="0">
                <a:solidFill>
                  <a:srgbClr val="3D4248"/>
                </a:solidFill>
                <a:latin typeface="Cambria" pitchFamily="34" charset="0"/>
                <a:ea typeface="Cambria" pitchFamily="34" charset="-122"/>
                <a:cs typeface="Cambria" pitchFamily="34" charset="-120"/>
              </a:rPr>
              <a:t>Sustitución sana a las redes sociales</a:t>
            </a:r>
            <a:endParaRPr lang="en-US" sz="1800" dirty="0"/>
          </a:p>
        </p:txBody>
      </p:sp>
      <p:sp>
        <p:nvSpPr>
          <p:cNvPr id="8" name="Text 6"/>
          <p:cNvSpPr/>
          <p:nvPr/>
        </p:nvSpPr>
        <p:spPr>
          <a:xfrm>
            <a:off x="1051560" y="2304288"/>
            <a:ext cx="7589520" cy="457200"/>
          </a:xfrm>
          <a:prstGeom prst="rect">
            <a:avLst/>
          </a:prstGeom>
          <a:noFill/>
          <a:ln/>
        </p:spPr>
        <p:txBody>
          <a:bodyPr wrap="square" lIns="0" tIns="0" rIns="0" bIns="0" rtlCol="0" anchor="ctr"/>
          <a:lstStyle/>
          <a:p>
            <a:pPr indent="0" marL="0">
              <a:buNone/>
            </a:pPr>
            <a:r>
              <a:rPr lang="en-US" sz="1300" dirty="0">
                <a:solidFill>
                  <a:srgbClr val="5A6068"/>
                </a:solidFill>
                <a:latin typeface="Calibri" pitchFamily="34" charset="0"/>
                <a:ea typeface="Calibri" pitchFamily="34" charset="-122"/>
                <a:cs typeface="Calibri" pitchFamily="34" charset="-120"/>
              </a:rPr>
              <a:t>El espacio digital cívico como alternativa al scroll infinito: el tiempo invertido se convierte en barrio mejorado.</a:t>
            </a:r>
            <a:endParaRPr lang="en-US" sz="1300" dirty="0"/>
          </a:p>
        </p:txBody>
      </p:sp>
      <p:sp>
        <p:nvSpPr>
          <p:cNvPr id="9" name="Text 7"/>
          <p:cNvSpPr/>
          <p:nvPr/>
        </p:nvSpPr>
        <p:spPr>
          <a:xfrm>
            <a:off x="502920" y="2834640"/>
            <a:ext cx="548640" cy="822960"/>
          </a:xfrm>
          <a:prstGeom prst="rect">
            <a:avLst/>
          </a:prstGeom>
          <a:noFill/>
          <a:ln/>
        </p:spPr>
        <p:txBody>
          <a:bodyPr wrap="square" lIns="0" tIns="0" rIns="0" bIns="0" rtlCol="0" anchor="t"/>
          <a:lstStyle/>
          <a:p>
            <a:pPr indent="0" marL="0">
              <a:buNone/>
            </a:pPr>
            <a:r>
              <a:rPr lang="en-US" sz="3600" i="1" dirty="0">
                <a:solidFill>
                  <a:srgbClr val="B85042"/>
                </a:solidFill>
                <a:latin typeface="Cambria" pitchFamily="34" charset="0"/>
                <a:ea typeface="Cambria" pitchFamily="34" charset="-122"/>
                <a:cs typeface="Cambria" pitchFamily="34" charset="-120"/>
              </a:rPr>
              <a:t>II.</a:t>
            </a:r>
            <a:endParaRPr lang="en-US" sz="3600" dirty="0"/>
          </a:p>
        </p:txBody>
      </p:sp>
      <p:sp>
        <p:nvSpPr>
          <p:cNvPr id="10" name="Text 8"/>
          <p:cNvSpPr/>
          <p:nvPr/>
        </p:nvSpPr>
        <p:spPr>
          <a:xfrm>
            <a:off x="1051560" y="2852928"/>
            <a:ext cx="7589520" cy="365760"/>
          </a:xfrm>
          <a:prstGeom prst="rect">
            <a:avLst/>
          </a:prstGeom>
          <a:noFill/>
          <a:ln/>
        </p:spPr>
        <p:txBody>
          <a:bodyPr wrap="square" lIns="0" tIns="0" rIns="0" bIns="0" rtlCol="0" anchor="ctr"/>
          <a:lstStyle/>
          <a:p>
            <a:pPr indent="0" marL="0">
              <a:buNone/>
            </a:pPr>
            <a:r>
              <a:rPr lang="en-US" sz="1800" dirty="0">
                <a:solidFill>
                  <a:srgbClr val="3D4248"/>
                </a:solidFill>
                <a:latin typeface="Cambria" pitchFamily="34" charset="0"/>
                <a:ea typeface="Cambria" pitchFamily="34" charset="-122"/>
                <a:cs typeface="Cambria" pitchFamily="34" charset="-120"/>
              </a:rPr>
              <a:t>Empoderamiento vecinal por los datos</a:t>
            </a:r>
            <a:endParaRPr lang="en-US" sz="1800" dirty="0"/>
          </a:p>
        </p:txBody>
      </p:sp>
      <p:sp>
        <p:nvSpPr>
          <p:cNvPr id="11" name="Text 9"/>
          <p:cNvSpPr/>
          <p:nvPr/>
        </p:nvSpPr>
        <p:spPr>
          <a:xfrm>
            <a:off x="1051560" y="3218688"/>
            <a:ext cx="7589520" cy="457200"/>
          </a:xfrm>
          <a:prstGeom prst="rect">
            <a:avLst/>
          </a:prstGeom>
          <a:noFill/>
          <a:ln/>
        </p:spPr>
        <p:txBody>
          <a:bodyPr wrap="square" lIns="0" tIns="0" rIns="0" bIns="0" rtlCol="0" anchor="ctr"/>
          <a:lstStyle/>
          <a:p>
            <a:pPr indent="0" marL="0">
              <a:buNone/>
            </a:pPr>
            <a:r>
              <a:rPr lang="en-US" sz="1300" dirty="0">
                <a:solidFill>
                  <a:srgbClr val="5A6068"/>
                </a:solidFill>
                <a:latin typeface="Calibri" pitchFamily="34" charset="0"/>
                <a:ea typeface="Calibri" pitchFamily="34" charset="-122"/>
                <a:cs typeface="Calibri" pitchFamily="34" charset="-120"/>
              </a:rPr>
              <a:t>Las circunstancias del vecindario se vuelven legibles: renta, vivienda, movilidad, equipamientos. La gente decide con información.</a:t>
            </a:r>
            <a:endParaRPr lang="en-US" sz="1300" dirty="0"/>
          </a:p>
        </p:txBody>
      </p:sp>
      <p:sp>
        <p:nvSpPr>
          <p:cNvPr id="12" name="Text 10"/>
          <p:cNvSpPr/>
          <p:nvPr/>
        </p:nvSpPr>
        <p:spPr>
          <a:xfrm>
            <a:off x="502920" y="3749040"/>
            <a:ext cx="548640" cy="822960"/>
          </a:xfrm>
          <a:prstGeom prst="rect">
            <a:avLst/>
          </a:prstGeom>
          <a:noFill/>
          <a:ln/>
        </p:spPr>
        <p:txBody>
          <a:bodyPr wrap="square" lIns="0" tIns="0" rIns="0" bIns="0" rtlCol="0" anchor="t"/>
          <a:lstStyle/>
          <a:p>
            <a:pPr indent="0" marL="0">
              <a:buNone/>
            </a:pPr>
            <a:r>
              <a:rPr lang="en-US" sz="3600" i="1" dirty="0">
                <a:solidFill>
                  <a:srgbClr val="B85042"/>
                </a:solidFill>
                <a:latin typeface="Cambria" pitchFamily="34" charset="0"/>
                <a:ea typeface="Cambria" pitchFamily="34" charset="-122"/>
                <a:cs typeface="Cambria" pitchFamily="34" charset="-120"/>
              </a:rPr>
              <a:t>III.</a:t>
            </a:r>
            <a:endParaRPr lang="en-US" sz="3600" dirty="0"/>
          </a:p>
        </p:txBody>
      </p:sp>
      <p:sp>
        <p:nvSpPr>
          <p:cNvPr id="13" name="Text 11"/>
          <p:cNvSpPr/>
          <p:nvPr/>
        </p:nvSpPr>
        <p:spPr>
          <a:xfrm>
            <a:off x="1051560" y="3767328"/>
            <a:ext cx="7589520" cy="365760"/>
          </a:xfrm>
          <a:prstGeom prst="rect">
            <a:avLst/>
          </a:prstGeom>
          <a:noFill/>
          <a:ln/>
        </p:spPr>
        <p:txBody>
          <a:bodyPr wrap="square" lIns="0" tIns="0" rIns="0" bIns="0" rtlCol="0" anchor="ctr"/>
          <a:lstStyle/>
          <a:p>
            <a:pPr indent="0" marL="0">
              <a:buNone/>
            </a:pPr>
            <a:r>
              <a:rPr lang="en-US" sz="1800" dirty="0">
                <a:solidFill>
                  <a:srgbClr val="3D4248"/>
                </a:solidFill>
                <a:latin typeface="Cambria" pitchFamily="34" charset="0"/>
                <a:ea typeface="Cambria" pitchFamily="34" charset="-122"/>
                <a:cs typeface="Cambria" pitchFamily="34" charset="-120"/>
              </a:rPr>
              <a:t>Flujo bidireccional ciudadano ↔ Ayuntamiento</a:t>
            </a:r>
            <a:endParaRPr lang="en-US" sz="1800" dirty="0"/>
          </a:p>
        </p:txBody>
      </p:sp>
      <p:sp>
        <p:nvSpPr>
          <p:cNvPr id="14" name="Text 12"/>
          <p:cNvSpPr/>
          <p:nvPr/>
        </p:nvSpPr>
        <p:spPr>
          <a:xfrm>
            <a:off x="1051560" y="4133088"/>
            <a:ext cx="7589520" cy="457200"/>
          </a:xfrm>
          <a:prstGeom prst="rect">
            <a:avLst/>
          </a:prstGeom>
          <a:noFill/>
          <a:ln/>
        </p:spPr>
        <p:txBody>
          <a:bodyPr wrap="square" lIns="0" tIns="0" rIns="0" bIns="0" rtlCol="0" anchor="ctr"/>
          <a:lstStyle/>
          <a:p>
            <a:pPr indent="0" marL="0">
              <a:buNone/>
            </a:pPr>
            <a:r>
              <a:rPr lang="en-US" sz="1300" dirty="0">
                <a:solidFill>
                  <a:srgbClr val="5A6068"/>
                </a:solidFill>
                <a:latin typeface="Calibri" pitchFamily="34" charset="0"/>
                <a:ea typeface="Calibri" pitchFamily="34" charset="-122"/>
                <a:cs typeface="Calibri" pitchFamily="34" charset="-120"/>
              </a:rPr>
              <a:t>Trascender la ventanilla burocrática. Las instituciones tienen el deber de generar hegemonía sobre los bienes públicos cuando las redes nos roban tiempo y datos.</a:t>
            </a:r>
            <a:endParaRPr lang="en-US" sz="1300" dirty="0"/>
          </a:p>
        </p:txBody>
      </p:sp>
      <p:sp>
        <p:nvSpPr>
          <p:cNvPr id="15" name="Text 13"/>
          <p:cNvSpPr/>
          <p:nvPr/>
        </p:nvSpPr>
        <p:spPr>
          <a:xfrm>
            <a:off x="365760" y="4846320"/>
            <a:ext cx="5486400" cy="228600"/>
          </a:xfrm>
          <a:prstGeom prst="rect">
            <a:avLst/>
          </a:prstGeom>
          <a:noFill/>
          <a:ln/>
        </p:spPr>
        <p:txBody>
          <a:bodyPr wrap="square" lIns="0" tIns="0" rIns="0" bIns="0" rtlCol="0" anchor="ctr"/>
          <a:lstStyle/>
          <a:p>
            <a:pPr indent="0" marL="0">
              <a:buNone/>
            </a:pPr>
            <a:r>
              <a:rPr lang="en-US" sz="900" dirty="0">
                <a:solidFill>
                  <a:srgbClr val="7B7E84"/>
                </a:solidFill>
                <a:latin typeface="Calibri" pitchFamily="34" charset="0"/>
                <a:ea typeface="Calibri" pitchFamily="34" charset="-122"/>
                <a:cs typeface="Calibri" pitchFamily="34" charset="-120"/>
              </a:rPr>
              <a:t>Redes cívicas gamificadas</a:t>
            </a:r>
            <a:pPr indent="0" marL="0">
              <a:buNone/>
            </a:pPr>
            <a:r>
              <a:rPr lang="en-US" sz="900" dirty="0">
                <a:solidFill>
                  <a:srgbClr val="7B7E84"/>
                </a:solidFill>
                <a:latin typeface="Calibri" pitchFamily="34" charset="0"/>
                <a:ea typeface="Calibri" pitchFamily="34" charset="-122"/>
                <a:cs typeface="Calibri" pitchFamily="34" charset="-120"/>
              </a:rPr>
              <a:t>   ·   </a:t>
            </a:r>
            <a:pPr indent="0" marL="0">
              <a:buNone/>
            </a:pPr>
            <a:r>
              <a:rPr lang="en-US" sz="900" dirty="0">
                <a:solidFill>
                  <a:srgbClr val="7B7E84"/>
                </a:solidFill>
                <a:latin typeface="Calibri" pitchFamily="34" charset="0"/>
                <a:ea typeface="Calibri" pitchFamily="34" charset="-122"/>
                <a:cs typeface="Calibri" pitchFamily="34" charset="-120"/>
              </a:rPr>
              <a:t>F. Rebollo Bautista</a:t>
            </a:r>
            <a:endParaRPr lang="en-US" sz="900" dirty="0"/>
          </a:p>
        </p:txBody>
      </p:sp>
      <p:sp>
        <p:nvSpPr>
          <p:cNvPr id="16" name="Text 14"/>
          <p:cNvSpPr/>
          <p:nvPr/>
        </p:nvSpPr>
        <p:spPr>
          <a:xfrm>
            <a:off x="7772400" y="4846320"/>
            <a:ext cx="1005840" cy="228600"/>
          </a:xfrm>
          <a:prstGeom prst="rect">
            <a:avLst/>
          </a:prstGeom>
          <a:noFill/>
          <a:ln/>
        </p:spPr>
        <p:txBody>
          <a:bodyPr wrap="square" lIns="0" tIns="0" rIns="0" bIns="0" rtlCol="0" anchor="ctr"/>
          <a:lstStyle/>
          <a:p>
            <a:pPr algn="r" indent="0" marL="0">
              <a:buNone/>
            </a:pPr>
            <a:r>
              <a:rPr lang="en-US" sz="900" dirty="0">
                <a:solidFill>
                  <a:srgbClr val="7B7E84"/>
                </a:solidFill>
                <a:latin typeface="Calibri" pitchFamily="34" charset="0"/>
                <a:ea typeface="Calibri" pitchFamily="34" charset="-122"/>
                <a:cs typeface="Calibri" pitchFamily="34" charset="-120"/>
              </a:rPr>
              <a:t>11 / 11</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Redes cívicas gamificadas — Centro Cívico Suárez Naranjo</dc:title>
  <dc:subject>PptxGenJS Presentation</dc:subject>
  <dc:creator>Francisco Rebollo Bautista</dc:creator>
  <cp:lastModifiedBy>Francisco Rebollo Bautista</cp:lastModifiedBy>
  <cp:revision>1</cp:revision>
  <dcterms:created xsi:type="dcterms:W3CDTF">2026-05-13T09:18:59Z</dcterms:created>
  <dcterms:modified xsi:type="dcterms:W3CDTF">2026-05-13T09:18:59Z</dcterms:modified>
</cp:coreProperties>
</file>